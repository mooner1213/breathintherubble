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87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2페이지.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3페이지.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4페이지.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5페이지.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6페이지.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7페이지.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8페이지.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9페이지.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10페이지.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11페이지.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12페이지.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13페이지.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14페이지.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15페이지.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16페이지.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17페이지.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18페이지.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19페이지.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기획 자료: 사용자가 제공한 'vr_disaster_survival_proposal.md' 및 2026-10-20 수정 시나리오. 인트로 영상: breath_in_the_rubble_intro_v3.mp4 (제공 영상). 이 자료에 제시된 수치는 게임 내 판정 규칙이며 실제 재난 상황의 생존 시간이나 의료적 수치를 뜻하지 않습니다. 19페이지.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_vr/assets/scene_03_e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994" y="0"/>
            <a:ext cx="9171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1115"/>
          </a:solidFill>
          <a:ln w="12700">
            <a:solidFill>
              <a:srgbClr val="0D111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309360" y="0"/>
            <a:ext cx="201168" cy="6858000"/>
          </a:xfrm>
          <a:prstGeom prst="rect">
            <a:avLst/>
          </a:prstGeom>
          <a:solidFill>
            <a:srgbClr val="142029"/>
          </a:solidFill>
          <a:ln w="12700">
            <a:solidFill>
              <a:srgbClr val="14202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6072" y="685800"/>
            <a:ext cx="59436" cy="493776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7589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VR SURVIVAL EXPERIENCE</a:t>
            </a:r>
            <a:endParaRPr lang="ko-KR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45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잔해 속의 숨</a:t>
            </a:r>
            <a:endParaRPr lang="ko-KR" sz="4500" dirty="0"/>
          </a:p>
        </p:txBody>
      </p:sp>
      <p:sp>
        <p:nvSpPr>
          <p:cNvPr id="8" name="Text 5"/>
          <p:cNvSpPr/>
          <p:nvPr/>
        </p:nvSpPr>
        <p:spPr>
          <a:xfrm>
            <a:off x="704088" y="2944368"/>
            <a:ext cx="6126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200" b="1" kern="0" spc="13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BREATH IN THE RUBBLE</a:t>
            </a:r>
            <a:endParaRPr lang="ko-KR" sz="2200" dirty="0"/>
          </a:p>
        </p:txBody>
      </p:sp>
      <p:sp>
        <p:nvSpPr>
          <p:cNvPr id="9" name="Shape 6"/>
          <p:cNvSpPr/>
          <p:nvPr/>
        </p:nvSpPr>
        <p:spPr>
          <a:xfrm>
            <a:off x="713232" y="3694176"/>
            <a:ext cx="5367528" cy="0"/>
          </a:xfrm>
          <a:prstGeom prst="line">
            <a:avLst/>
          </a:prstGeom>
          <a:noFill/>
          <a:ln w="16510">
            <a:solidFill>
              <a:srgbClr val="3440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3959352"/>
            <a:ext cx="5833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폐허 속에서 살아남기 위한 단 하나의 선택</a:t>
            </a:r>
            <a:endParaRPr lang="ko-KR" sz="1800" dirty="0"/>
          </a:p>
        </p:txBody>
      </p:sp>
      <p:sp>
        <p:nvSpPr>
          <p:cNvPr id="11" name="Text 8"/>
          <p:cNvSpPr/>
          <p:nvPr/>
        </p:nvSpPr>
        <p:spPr>
          <a:xfrm>
            <a:off x="713232" y="4507992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7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매몰 상황을 체험하는 1인칭 VR 재난 생존 시뮬레이션</a:t>
            </a:r>
            <a:endParaRPr lang="ko-KR" sz="1270" dirty="0"/>
          </a:p>
        </p:txBody>
      </p:sp>
      <p:sp>
        <p:nvSpPr>
          <p:cNvPr id="12" name="Shape 9"/>
          <p:cNvSpPr/>
          <p:nvPr/>
        </p:nvSpPr>
        <p:spPr>
          <a:xfrm>
            <a:off x="704088" y="5779008"/>
            <a:ext cx="2057400" cy="320040"/>
          </a:xfrm>
          <a:prstGeom prst="roundRect">
            <a:avLst>
              <a:gd name="adj" fmla="val 42857"/>
            </a:avLst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5829300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CONCEPT</a:t>
            </a:r>
            <a:endParaRPr lang="ko-KR" sz="1020" dirty="0"/>
          </a:p>
        </p:txBody>
      </p:sp>
      <p:sp>
        <p:nvSpPr>
          <p:cNvPr id="14" name="Text 11"/>
          <p:cNvSpPr/>
          <p:nvPr/>
        </p:nvSpPr>
        <p:spPr>
          <a:xfrm>
            <a:off x="2898648" y="5843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GAME DESIGN PROPOSAL</a:t>
            </a:r>
            <a:endParaRPr lang="ko-K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00  /  REFERENCE FOOTAGE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인트로 영상 · 매몰 직후의 시점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첨부된 20초 AI 인트로 영상을 본 기획의 대표적인 시각 레퍼런스로 활용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810512"/>
            <a:ext cx="7397496" cy="4151376"/>
          </a:xfrm>
          <a:prstGeom prst="roundRect">
            <a:avLst>
              <a:gd name="adj" fmla="val 3304"/>
            </a:avLst>
          </a:prstGeom>
          <a:solidFill>
            <a:srgbClr val="202931"/>
          </a:solidFill>
          <a:ln w="12700">
            <a:solidFill>
              <a:srgbClr val="344049"/>
            </a:solidFill>
            <a:prstDash val="solid"/>
          </a:ln>
        </p:spPr>
      </p:sp>
      <p:pic>
        <p:nvPicPr>
          <p:cNvPr id="10" name="Image 0" descr="/mnt/data/work_vr/assets/video_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7360920" cy="4114800"/>
          </a:xfrm>
          <a:prstGeom prst="rect">
            <a:avLst/>
          </a:prstGeom>
        </p:spPr>
      </p:pic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0080" y="1828800"/>
            <a:ext cx="7360920" cy="4114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47888" y="1828800"/>
            <a:ext cx="3264408" cy="4114800"/>
          </a:xfrm>
          <a:prstGeom prst="roundRect">
            <a:avLst>
              <a:gd name="adj" fmla="val 4202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03920" y="2103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VISUAL KEY</a:t>
            </a:r>
            <a:endParaRPr lang="ko-KR" sz="1000" dirty="0"/>
          </a:p>
        </p:txBody>
      </p:sp>
      <p:sp>
        <p:nvSpPr>
          <p:cNvPr id="14" name="Shape 10"/>
          <p:cNvSpPr/>
          <p:nvPr/>
        </p:nvSpPr>
        <p:spPr>
          <a:xfrm>
            <a:off x="8503920" y="2587752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17636" y="2665476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1500" dirty="0"/>
          </a:p>
        </p:txBody>
      </p:sp>
      <p:sp>
        <p:nvSpPr>
          <p:cNvPr id="16" name="Text 12"/>
          <p:cNvSpPr/>
          <p:nvPr/>
        </p:nvSpPr>
        <p:spPr>
          <a:xfrm>
            <a:off x="9153144" y="260604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거센 붕괴음</a:t>
            </a:r>
            <a:endParaRPr lang="ko-KR" sz="1400" dirty="0"/>
          </a:p>
        </p:txBody>
      </p:sp>
      <p:sp>
        <p:nvSpPr>
          <p:cNvPr id="17" name="Text 13"/>
          <p:cNvSpPr/>
          <p:nvPr/>
        </p:nvSpPr>
        <p:spPr>
          <a:xfrm>
            <a:off x="9153144" y="2880360"/>
            <a:ext cx="2084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암전과 각성의 전환</a:t>
            </a:r>
            <a:endParaRPr lang="ko-KR" sz="1060" dirty="0"/>
          </a:p>
        </p:txBody>
      </p:sp>
      <p:sp>
        <p:nvSpPr>
          <p:cNvPr id="18" name="Shape 14"/>
          <p:cNvSpPr/>
          <p:nvPr/>
        </p:nvSpPr>
        <p:spPr>
          <a:xfrm>
            <a:off x="8503920" y="3328416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17636" y="3406140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1500" dirty="0"/>
          </a:p>
        </p:txBody>
      </p:sp>
      <p:sp>
        <p:nvSpPr>
          <p:cNvPr id="20" name="Text 16"/>
          <p:cNvSpPr/>
          <p:nvPr/>
        </p:nvSpPr>
        <p:spPr>
          <a:xfrm>
            <a:off x="9153144" y="3346704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다리 매몰</a:t>
            </a:r>
            <a:endParaRPr lang="ko-KR" sz="1400" dirty="0"/>
          </a:p>
        </p:txBody>
      </p:sp>
      <p:sp>
        <p:nvSpPr>
          <p:cNvPr id="21" name="Text 17"/>
          <p:cNvSpPr/>
          <p:nvPr/>
        </p:nvSpPr>
        <p:spPr>
          <a:xfrm>
            <a:off x="9153144" y="3621024"/>
            <a:ext cx="2084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하체 이동 불가능</a:t>
            </a:r>
            <a:endParaRPr lang="ko-KR" sz="1060" dirty="0"/>
          </a:p>
        </p:txBody>
      </p:sp>
      <p:sp>
        <p:nvSpPr>
          <p:cNvPr id="22" name="Shape 18"/>
          <p:cNvSpPr/>
          <p:nvPr/>
        </p:nvSpPr>
        <p:spPr>
          <a:xfrm>
            <a:off x="8503920" y="4069080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17636" y="4146804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1500" dirty="0"/>
          </a:p>
        </p:txBody>
      </p:sp>
      <p:sp>
        <p:nvSpPr>
          <p:cNvPr id="24" name="Text 20"/>
          <p:cNvSpPr/>
          <p:nvPr/>
        </p:nvSpPr>
        <p:spPr>
          <a:xfrm>
            <a:off x="9153144" y="4087368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콘크리트 잔해</a:t>
            </a:r>
            <a:endParaRPr lang="ko-KR" sz="1400" dirty="0"/>
          </a:p>
        </p:txBody>
      </p:sp>
      <p:sp>
        <p:nvSpPr>
          <p:cNvPr id="25" name="Text 21"/>
          <p:cNvSpPr/>
          <p:nvPr/>
        </p:nvSpPr>
        <p:spPr>
          <a:xfrm>
            <a:off x="9153144" y="4361688"/>
            <a:ext cx="2084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가까운 벽·낮은 천장</a:t>
            </a:r>
            <a:endParaRPr lang="ko-KR" sz="1060" dirty="0"/>
          </a:p>
        </p:txBody>
      </p:sp>
      <p:sp>
        <p:nvSpPr>
          <p:cNvPr id="26" name="Shape 22"/>
          <p:cNvSpPr/>
          <p:nvPr/>
        </p:nvSpPr>
        <p:spPr>
          <a:xfrm>
            <a:off x="8503920" y="4809744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17636" y="4887468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ko-KR" sz="1500" dirty="0"/>
          </a:p>
        </p:txBody>
      </p:sp>
      <p:sp>
        <p:nvSpPr>
          <p:cNvPr id="28" name="Text 24"/>
          <p:cNvSpPr/>
          <p:nvPr/>
        </p:nvSpPr>
        <p:spPr>
          <a:xfrm>
            <a:off x="9153144" y="482803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주변의 스마트폰</a:t>
            </a:r>
            <a:endParaRPr lang="ko-KR" sz="1400" dirty="0"/>
          </a:p>
        </p:txBody>
      </p:sp>
      <p:sp>
        <p:nvSpPr>
          <p:cNvPr id="29" name="Text 25"/>
          <p:cNvSpPr/>
          <p:nvPr/>
        </p:nvSpPr>
        <p:spPr>
          <a:xfrm>
            <a:off x="9153144" y="5102352"/>
            <a:ext cx="2084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유일한 광원과 호출 수단</a:t>
            </a:r>
            <a:endParaRPr lang="ko-KR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 /  PROJECT OVERVIEW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 한눈에 보기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이동할 수 없는 상황에서 판단과 상호작용만으로 구조 신호를 전달하는 체험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801368"/>
            <a:ext cx="6217920" cy="2880360"/>
          </a:xfrm>
          <a:prstGeom prst="roundRect">
            <a:avLst>
              <a:gd name="adj" fmla="val 4762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385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ONE-LINE CONCEPT</a:t>
            </a:r>
            <a:endParaRPr lang="ko-KR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286000"/>
            <a:ext cx="5458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“움직이지 못하는 공간에서도</a:t>
            </a:r>
            <a:endParaRPr lang="ko-KR" sz="2600" dirty="0"/>
          </a:p>
          <a:p>
            <a:pPr marL="0" indent="0">
              <a:buNone/>
            </a:pPr>
            <a:r>
              <a:rPr lang="ko-KR" altLang="en-US" sz="26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살아남기 위한 선택은 남아 있다.”</a:t>
            </a:r>
            <a:endParaRPr lang="ko-KR" sz="2600" dirty="0"/>
          </a:p>
        </p:txBody>
      </p:sp>
      <p:sp>
        <p:nvSpPr>
          <p:cNvPr id="12" name="Shape 10"/>
          <p:cNvSpPr/>
          <p:nvPr/>
        </p:nvSpPr>
        <p:spPr>
          <a:xfrm>
            <a:off x="969264" y="3895344"/>
            <a:ext cx="5413248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6908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D7B46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낙하 파편을 막고  ·  물을 조절하고  ·  빛을 아끼고  ·  구조에 응답한다</a:t>
            </a:r>
            <a:endParaRPr lang="ko-KR" sz="1240" dirty="0"/>
          </a:p>
        </p:txBody>
      </p:sp>
      <p:sp>
        <p:nvSpPr>
          <p:cNvPr id="14" name="Shape 12"/>
          <p:cNvSpPr/>
          <p:nvPr/>
        </p:nvSpPr>
        <p:spPr>
          <a:xfrm>
            <a:off x="7114032" y="1810512"/>
            <a:ext cx="4407408" cy="768096"/>
          </a:xfrm>
          <a:prstGeom prst="roundRect">
            <a:avLst>
              <a:gd name="adj" fmla="val 1785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2029968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장르</a:t>
            </a:r>
            <a:endParaRPr lang="ko-KR" sz="1200" dirty="0"/>
          </a:p>
        </p:txBody>
      </p:sp>
      <p:sp>
        <p:nvSpPr>
          <p:cNvPr id="16" name="Text 14"/>
          <p:cNvSpPr/>
          <p:nvPr/>
        </p:nvSpPr>
        <p:spPr>
          <a:xfrm>
            <a:off x="8586216" y="2011680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VR 생존 시뮬레이션</a:t>
            </a:r>
            <a:endParaRPr lang="ko-KR" sz="1400" dirty="0"/>
          </a:p>
        </p:txBody>
      </p:sp>
      <p:sp>
        <p:nvSpPr>
          <p:cNvPr id="17" name="Shape 15"/>
          <p:cNvSpPr/>
          <p:nvPr/>
        </p:nvSpPr>
        <p:spPr>
          <a:xfrm>
            <a:off x="7114032" y="2724912"/>
            <a:ext cx="4407408" cy="768096"/>
          </a:xfrm>
          <a:prstGeom prst="roundRect">
            <a:avLst>
              <a:gd name="adj" fmla="val 1785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2944368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시점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8586216" y="2926080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1인칭 / 착석형</a:t>
            </a:r>
            <a:endParaRPr lang="ko-KR" sz="1400" dirty="0"/>
          </a:p>
        </p:txBody>
      </p:sp>
      <p:sp>
        <p:nvSpPr>
          <p:cNvPr id="20" name="Shape 18"/>
          <p:cNvSpPr/>
          <p:nvPr/>
        </p:nvSpPr>
        <p:spPr>
          <a:xfrm>
            <a:off x="7114032" y="3639312"/>
            <a:ext cx="4407408" cy="768096"/>
          </a:xfrm>
          <a:prstGeom prst="roundRect">
            <a:avLst>
              <a:gd name="adj" fmla="val 1785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3858768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플랫폼</a:t>
            </a:r>
            <a:endParaRPr lang="ko-KR" sz="1200" dirty="0"/>
          </a:p>
        </p:txBody>
      </p:sp>
      <p:sp>
        <p:nvSpPr>
          <p:cNvPr id="22" name="Text 20"/>
          <p:cNvSpPr/>
          <p:nvPr/>
        </p:nvSpPr>
        <p:spPr>
          <a:xfrm>
            <a:off x="8586216" y="3840480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6DoF VR + 양손 컨트롤러</a:t>
            </a:r>
            <a:endParaRPr lang="ko-KR" sz="1400" dirty="0"/>
          </a:p>
        </p:txBody>
      </p:sp>
      <p:sp>
        <p:nvSpPr>
          <p:cNvPr id="23" name="Shape 21"/>
          <p:cNvSpPr/>
          <p:nvPr/>
        </p:nvSpPr>
        <p:spPr>
          <a:xfrm>
            <a:off x="7114032" y="4553712"/>
            <a:ext cx="4407408" cy="768096"/>
          </a:xfrm>
          <a:prstGeom prst="roundRect">
            <a:avLst>
              <a:gd name="adj" fmla="val 1785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4773168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플레이 시간</a:t>
            </a:r>
            <a:endParaRPr lang="ko-KR" sz="1200" dirty="0"/>
          </a:p>
        </p:txBody>
      </p:sp>
      <p:sp>
        <p:nvSpPr>
          <p:cNvPr id="25" name="Text 23"/>
          <p:cNvSpPr/>
          <p:nvPr/>
        </p:nvSpPr>
        <p:spPr>
          <a:xfrm>
            <a:off x="8586216" y="4754880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약 4~6분 (시간 압축)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649224" y="5495544"/>
            <a:ext cx="10863072" cy="868680"/>
          </a:xfrm>
          <a:prstGeom prst="roundRect">
            <a:avLst>
              <a:gd name="adj" fmla="val 15789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78815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제약</a:t>
            </a:r>
            <a:endParaRPr lang="ko-KR" sz="1400" dirty="0"/>
          </a:p>
        </p:txBody>
      </p:sp>
      <p:sp>
        <p:nvSpPr>
          <p:cNvPr id="28" name="Text 26"/>
          <p:cNvSpPr/>
          <p:nvPr/>
        </p:nvSpPr>
        <p:spPr>
          <a:xfrm>
            <a:off x="2157984" y="5769864"/>
            <a:ext cx="891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다리 매몰 · 하체 이동 불가 · 상체/머리/팔만 움직일 수 있는 초협소 생존 공간</a:t>
            </a:r>
            <a:endParaRPr lang="ko-KR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 /  PLAYER SAFETY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체험 전 안내 · 폐소공포증 위험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게임이 시작되기 전에 반드시 고지하고 사용자가 체험 여부를 선택하도록 설계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792224"/>
            <a:ext cx="6675120" cy="4105656"/>
          </a:xfrm>
          <a:prstGeom prst="roundRect">
            <a:avLst>
              <a:gd name="adj" fmla="val 334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148840"/>
            <a:ext cx="50292" cy="932688"/>
          </a:xfrm>
          <a:prstGeom prst="rect">
            <a:avLst/>
          </a:prstGeom>
          <a:solidFill>
            <a:srgbClr val="DE716D"/>
          </a:solidFill>
          <a:ln w="12700">
            <a:solidFill>
              <a:srgbClr val="DE716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19456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CONTENT WARNING</a:t>
            </a:r>
            <a:endParaRPr lang="ko-KR" sz="1000" dirty="0"/>
          </a:p>
        </p:txBody>
      </p:sp>
      <p:sp>
        <p:nvSpPr>
          <p:cNvPr id="12" name="Text 10"/>
          <p:cNvSpPr/>
          <p:nvPr/>
        </p:nvSpPr>
        <p:spPr>
          <a:xfrm>
            <a:off x="1197864" y="2688336"/>
            <a:ext cx="5669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어둠과 좁은 공간에 대한</a:t>
            </a:r>
            <a:endParaRPr lang="ko-KR" sz="2700" dirty="0"/>
          </a:p>
          <a:p>
            <a:pPr marL="0" indent="0">
              <a:buNone/>
            </a:pPr>
            <a:r>
              <a:rPr lang="ko-KR" altLang="en-US" sz="2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불안이 발생할 수 있습니다.</a:t>
            </a:r>
            <a:endParaRPr lang="ko-KR" sz="2700" dirty="0"/>
          </a:p>
        </p:txBody>
      </p:sp>
      <p:sp>
        <p:nvSpPr>
          <p:cNvPr id="13" name="Text 11"/>
          <p:cNvSpPr/>
          <p:nvPr/>
        </p:nvSpPr>
        <p:spPr>
          <a:xfrm>
            <a:off x="1216152" y="4078224"/>
            <a:ext cx="5614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 체험에는 건물 붕괴음 · 떨어지는 잔해 · 좁아지는 천장 · 고립 상황 · 구조 요청 음성이 포함됩니다.</a:t>
            </a:r>
            <a:endParaRPr lang="ko-KR" sz="1600" dirty="0"/>
          </a:p>
        </p:txBody>
      </p:sp>
      <p:sp>
        <p:nvSpPr>
          <p:cNvPr id="14" name="Shape 12"/>
          <p:cNvSpPr/>
          <p:nvPr/>
        </p:nvSpPr>
        <p:spPr>
          <a:xfrm>
            <a:off x="7580376" y="1792224"/>
            <a:ext cx="3904488" cy="4105656"/>
          </a:xfrm>
          <a:prstGeom prst="roundRect">
            <a:avLst>
              <a:gd name="adj" fmla="val 3513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0416" y="2130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BEFORE START</a:t>
            </a:r>
            <a:endParaRPr lang="ko-KR" sz="1000" dirty="0"/>
          </a:p>
        </p:txBody>
      </p:sp>
      <p:sp>
        <p:nvSpPr>
          <p:cNvPr id="16" name="Shape 14"/>
          <p:cNvSpPr/>
          <p:nvPr/>
        </p:nvSpPr>
        <p:spPr>
          <a:xfrm>
            <a:off x="7909560" y="2633472"/>
            <a:ext cx="329184" cy="329184"/>
          </a:xfrm>
          <a:prstGeom prst="ellipse">
            <a:avLst/>
          </a:prstGeom>
          <a:solidFill>
            <a:srgbClr val="202931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6883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ko-KR" sz="1100" dirty="0"/>
          </a:p>
        </p:txBody>
      </p:sp>
      <p:sp>
        <p:nvSpPr>
          <p:cNvPr id="18" name="Shape 16"/>
          <p:cNvSpPr/>
          <p:nvPr/>
        </p:nvSpPr>
        <p:spPr>
          <a:xfrm>
            <a:off x="7909560" y="3566160"/>
            <a:ext cx="329184" cy="329184"/>
          </a:xfrm>
          <a:prstGeom prst="ellipse">
            <a:avLst/>
          </a:prstGeom>
          <a:solidFill>
            <a:srgbClr val="202931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62102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ko-KR" sz="1100" dirty="0"/>
          </a:p>
        </p:txBody>
      </p:sp>
      <p:sp>
        <p:nvSpPr>
          <p:cNvPr id="20" name="Shape 18"/>
          <p:cNvSpPr/>
          <p:nvPr/>
        </p:nvSpPr>
        <p:spPr>
          <a:xfrm>
            <a:off x="7909560" y="4498848"/>
            <a:ext cx="329184" cy="329184"/>
          </a:xfrm>
          <a:prstGeom prst="ellipse">
            <a:avLst/>
          </a:prstGeom>
          <a:solidFill>
            <a:srgbClr val="202931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45537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ko-KR" sz="1100" dirty="0"/>
          </a:p>
        </p:txBody>
      </p:sp>
      <p:sp>
        <p:nvSpPr>
          <p:cNvPr id="22" name="Text 20"/>
          <p:cNvSpPr/>
          <p:nvPr/>
        </p:nvSpPr>
        <p:spPr>
          <a:xfrm>
            <a:off x="8394192" y="264261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착석한 상태에서 HMD 착용</a:t>
            </a:r>
            <a:endParaRPr lang="ko-KR" sz="1400" dirty="0"/>
          </a:p>
        </p:txBody>
      </p:sp>
      <p:sp>
        <p:nvSpPr>
          <p:cNvPr id="23" name="Text 21"/>
          <p:cNvSpPr/>
          <p:nvPr/>
        </p:nvSpPr>
        <p:spPr>
          <a:xfrm>
            <a:off x="8394192" y="35661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시야·음량 강도 조절 가능</a:t>
            </a:r>
            <a:endParaRPr lang="ko-KR" sz="1400" dirty="0"/>
          </a:p>
        </p:txBody>
      </p:sp>
      <p:sp>
        <p:nvSpPr>
          <p:cNvPr id="24" name="Text 22"/>
          <p:cNvSpPr/>
          <p:nvPr/>
        </p:nvSpPr>
        <p:spPr>
          <a:xfrm>
            <a:off x="8394192" y="449884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언제든 중단·재시작 가능</a:t>
            </a:r>
            <a:endParaRPr lang="ko-KR" sz="1400" dirty="0"/>
          </a:p>
        </p:txBody>
      </p:sp>
      <p:sp>
        <p:nvSpPr>
          <p:cNvPr id="25" name="Shape 23"/>
          <p:cNvSpPr/>
          <p:nvPr/>
        </p:nvSpPr>
        <p:spPr>
          <a:xfrm>
            <a:off x="8375904" y="5321808"/>
            <a:ext cx="1307592" cy="329184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538124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5080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체험 시작</a:t>
            </a:r>
            <a:endParaRPr lang="ko-KR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60990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구현 시 사용자 동의 및 즉시 종료 기능을 먼저 제공</a:t>
            </a:r>
            <a:endParaRPr lang="ko-KR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 /  DESIGN PILLARS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가지 핵심 설계 원칙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화려한 인터페이스보다 공간의 압박과 신체 행동에 집중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3465576" cy="3639312"/>
          </a:xfrm>
          <a:prstGeom prst="roundRect">
            <a:avLst>
              <a:gd name="adj" fmla="val 395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5798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4000" dirty="0"/>
          </a:p>
        </p:txBody>
      </p:sp>
      <p:sp>
        <p:nvSpPr>
          <p:cNvPr id="11" name="Shape 9"/>
          <p:cNvSpPr/>
          <p:nvPr/>
        </p:nvSpPr>
        <p:spPr>
          <a:xfrm>
            <a:off x="868680" y="3035808"/>
            <a:ext cx="2926080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328416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움직일 수 없는 공간</a:t>
            </a:r>
            <a:endParaRPr lang="ko-KR" sz="2000" dirty="0"/>
          </a:p>
        </p:txBody>
      </p:sp>
      <p:sp>
        <p:nvSpPr>
          <p:cNvPr id="13" name="Text 11"/>
          <p:cNvSpPr/>
          <p:nvPr/>
        </p:nvSpPr>
        <p:spPr>
          <a:xfrm>
            <a:off x="877824" y="4050792"/>
            <a:ext cx="29443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다리와 하체는 고정. 상체와 손의 도달 범위 안에서만 생존 행동을 선택한다.</a:t>
            </a:r>
            <a:endParaRPr lang="ko-KR" sz="1500" dirty="0"/>
          </a:p>
        </p:txBody>
      </p:sp>
      <p:sp>
        <p:nvSpPr>
          <p:cNvPr id="14" name="Shape 12"/>
          <p:cNvSpPr/>
          <p:nvPr/>
        </p:nvSpPr>
        <p:spPr>
          <a:xfrm>
            <a:off x="4343400" y="1938528"/>
            <a:ext cx="3465576" cy="3639312"/>
          </a:xfrm>
          <a:prstGeom prst="roundRect">
            <a:avLst>
              <a:gd name="adj" fmla="val 395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15798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4000" dirty="0"/>
          </a:p>
        </p:txBody>
      </p:sp>
      <p:sp>
        <p:nvSpPr>
          <p:cNvPr id="16" name="Shape 14"/>
          <p:cNvSpPr/>
          <p:nvPr/>
        </p:nvSpPr>
        <p:spPr>
          <a:xfrm>
            <a:off x="4572000" y="3035808"/>
            <a:ext cx="2926080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3328416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몸으로 하는 상호작용</a:t>
            </a:r>
            <a:endParaRPr lang="ko-KR" sz="2000" dirty="0"/>
          </a:p>
        </p:txBody>
      </p:sp>
      <p:sp>
        <p:nvSpPr>
          <p:cNvPr id="18" name="Text 16"/>
          <p:cNvSpPr/>
          <p:nvPr/>
        </p:nvSpPr>
        <p:spPr>
          <a:xfrm>
            <a:off x="4581144" y="4050792"/>
            <a:ext cx="29443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스마트폰과 물통을 집고 양팔로 머리를 막고 쇠파이프로 구조 신호를 보낸다.</a:t>
            </a:r>
            <a:endParaRPr lang="ko-KR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1938528"/>
            <a:ext cx="3465576" cy="3639312"/>
          </a:xfrm>
          <a:prstGeom prst="roundRect">
            <a:avLst>
              <a:gd name="adj" fmla="val 395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15798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4000" dirty="0"/>
          </a:p>
        </p:txBody>
      </p:sp>
      <p:sp>
        <p:nvSpPr>
          <p:cNvPr id="21" name="Shape 19"/>
          <p:cNvSpPr/>
          <p:nvPr/>
        </p:nvSpPr>
        <p:spPr>
          <a:xfrm>
            <a:off x="8275320" y="3035808"/>
            <a:ext cx="2926080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3328416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최소한의 화면 정보</a:t>
            </a:r>
            <a:endParaRPr lang="ko-KR" sz="2000" dirty="0"/>
          </a:p>
        </p:txBody>
      </p:sp>
      <p:sp>
        <p:nvSpPr>
          <p:cNvPr id="23" name="Text 21"/>
          <p:cNvSpPr/>
          <p:nvPr/>
        </p:nvSpPr>
        <p:spPr>
          <a:xfrm>
            <a:off x="8284464" y="4050792"/>
            <a:ext cx="29443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 HUD와 퀘스트 창을 배제. 손상된 잠금 화면의 긴급전화와 플래시만 사용한다.</a:t>
            </a:r>
            <a:endParaRPr lang="ko-KR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 /  SPACE DESIGN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초협소 생존 공간 · 플레이어 중심 배치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아래 도식은 컨셉 배치도이며 오브젝트의 구체적 위치는 실제 VR 테스트에서 조정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764792"/>
            <a:ext cx="7360920" cy="4370832"/>
          </a:xfrm>
          <a:prstGeom prst="roundRect">
            <a:avLst>
              <a:gd name="adj" fmla="val 313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2423160"/>
            <a:ext cx="5925312" cy="0"/>
          </a:xfrm>
          <a:prstGeom prst="line">
            <a:avLst/>
          </a:prstGeom>
          <a:noFill/>
          <a:ln w="127000">
            <a:solidFill>
              <a:srgbClr val="6F7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5696712"/>
            <a:ext cx="5916168" cy="0"/>
          </a:xfrm>
          <a:prstGeom prst="line">
            <a:avLst/>
          </a:prstGeom>
          <a:noFill/>
          <a:ln w="114300">
            <a:solidFill>
              <a:srgbClr val="6F7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459736"/>
            <a:ext cx="0" cy="3191256"/>
          </a:xfrm>
          <a:prstGeom prst="line">
            <a:avLst/>
          </a:prstGeom>
          <a:noFill/>
          <a:ln w="127000">
            <a:solidFill>
              <a:srgbClr val="5661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67728" y="2459736"/>
            <a:ext cx="0" cy="3191256"/>
          </a:xfrm>
          <a:prstGeom prst="line">
            <a:avLst/>
          </a:prstGeom>
          <a:noFill/>
          <a:ln w="139700">
            <a:solidFill>
              <a:srgbClr val="5661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182112"/>
            <a:ext cx="768096" cy="768096"/>
          </a:xfrm>
          <a:prstGeom prst="ellipse">
            <a:avLst/>
          </a:prstGeom>
          <a:solidFill>
            <a:srgbClr val="586874"/>
          </a:solidFill>
          <a:ln w="13970">
            <a:solidFill>
              <a:srgbClr val="9AA5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4014216"/>
            <a:ext cx="1371600" cy="932688"/>
          </a:xfrm>
          <a:prstGeom prst="roundRect">
            <a:avLst>
              <a:gd name="adj" fmla="val 14706"/>
            </a:avLst>
          </a:prstGeom>
          <a:solidFill>
            <a:srgbClr val="3C4C53"/>
          </a:solidFill>
          <a:ln w="12700">
            <a:solidFill>
              <a:srgbClr val="3C4C5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44952" y="4974336"/>
            <a:ext cx="960120" cy="374904"/>
          </a:xfrm>
          <a:prstGeom prst="rect">
            <a:avLst/>
          </a:prstGeom>
          <a:solidFill>
            <a:srgbClr val="26333A"/>
          </a:solidFill>
          <a:ln w="12700">
            <a:solidFill>
              <a:srgbClr val="26333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2825496"/>
            <a:ext cx="3273552" cy="2578608"/>
          </a:xfrm>
          <a:prstGeom prst="ellipse">
            <a:avLst/>
          </a:prstGeom>
          <a:solidFill>
            <a:srgbClr val="23363C">
              <a:alpha val="16000"/>
            </a:srgbClr>
          </a:solidFill>
          <a:ln w="19050">
            <a:solidFill>
              <a:srgbClr val="D7B46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498848" y="5175504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팔 도달 범위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1883664" y="2834640"/>
            <a:ext cx="283464" cy="512064"/>
          </a:xfrm>
          <a:prstGeom prst="roundRect">
            <a:avLst>
              <a:gd name="adj" fmla="val 48387"/>
            </a:avLst>
          </a:prstGeom>
          <a:solidFill>
            <a:srgbClr val="233F4D"/>
          </a:solidFill>
          <a:ln w="12700">
            <a:solidFill>
              <a:srgbClr val="7CC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68833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휴대폰</a:t>
            </a:r>
            <a:endParaRPr lang="ko-KR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3026664"/>
            <a:ext cx="228600" cy="457200"/>
          </a:xfrm>
          <a:prstGeom prst="roundRect">
            <a:avLst>
              <a:gd name="adj" fmla="val 60000"/>
            </a:avLst>
          </a:prstGeom>
          <a:solidFill>
            <a:srgbClr val="305550"/>
          </a:solidFill>
          <a:ln w="12700">
            <a:solidFill>
              <a:srgbClr val="7CC0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3108960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물통</a:t>
            </a:r>
            <a:endParaRPr lang="ko-KR" sz="1100" dirty="0"/>
          </a:p>
        </p:txBody>
      </p:sp>
      <p:sp>
        <p:nvSpPr>
          <p:cNvPr id="23" name="Shape 21"/>
          <p:cNvSpPr/>
          <p:nvPr/>
        </p:nvSpPr>
        <p:spPr>
          <a:xfrm>
            <a:off x="5047488" y="4361688"/>
            <a:ext cx="859536" cy="109728"/>
          </a:xfrm>
          <a:prstGeom prst="rect">
            <a:avLst/>
          </a:prstGeom>
          <a:solidFill>
            <a:srgbClr val="8D8F8A"/>
          </a:solidFill>
          <a:ln w="12700">
            <a:solidFill>
              <a:srgbClr val="8D8F8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3858768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2단계 이후</a:t>
            </a:r>
            <a:endParaRPr lang="ko-KR" sz="1000" dirty="0"/>
          </a:p>
        </p:txBody>
      </p:sp>
      <p:sp>
        <p:nvSpPr>
          <p:cNvPr id="25" name="Text 23"/>
          <p:cNvSpPr/>
          <p:nvPr/>
        </p:nvSpPr>
        <p:spPr>
          <a:xfrm>
            <a:off x="5614416" y="412394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쇠파이프</a:t>
            </a:r>
            <a:endParaRPr lang="ko-KR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4809744"/>
            <a:ext cx="420624" cy="0"/>
          </a:xfrm>
          <a:prstGeom prst="line">
            <a:avLst/>
          </a:prstGeom>
          <a:noFill/>
          <a:ln w="63500">
            <a:solidFill>
              <a:srgbClr val="B78E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9864" y="5093208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8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배관·철근</a:t>
            </a:r>
            <a:endParaRPr lang="ko-KR" sz="1080" dirty="0"/>
          </a:p>
        </p:txBody>
      </p:sp>
      <p:sp>
        <p:nvSpPr>
          <p:cNvPr id="28" name="Text 26"/>
          <p:cNvSpPr/>
          <p:nvPr/>
        </p:nvSpPr>
        <p:spPr>
          <a:xfrm>
            <a:off x="3200400" y="3657600"/>
            <a:ext cx="649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HEAD</a:t>
            </a:r>
            <a:endParaRPr lang="ko-KR" sz="1100" dirty="0"/>
          </a:p>
        </p:txBody>
      </p:sp>
      <p:sp>
        <p:nvSpPr>
          <p:cNvPr id="29" name="Text 27"/>
          <p:cNvSpPr/>
          <p:nvPr/>
        </p:nvSpPr>
        <p:spPr>
          <a:xfrm>
            <a:off x="2999232" y="54041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하체 매몰</a:t>
            </a:r>
            <a:endParaRPr lang="ko-KR" sz="1100" dirty="0"/>
          </a:p>
        </p:txBody>
      </p:sp>
      <p:sp>
        <p:nvSpPr>
          <p:cNvPr id="30" name="Shape 28"/>
          <p:cNvSpPr/>
          <p:nvPr/>
        </p:nvSpPr>
        <p:spPr>
          <a:xfrm>
            <a:off x="8238744" y="1773936"/>
            <a:ext cx="3273552" cy="4343400"/>
          </a:xfrm>
          <a:prstGeom prst="roundRect">
            <a:avLst>
              <a:gd name="adj" fmla="val 419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6488" y="20756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MOVEMENT LIMIT</a:t>
            </a:r>
            <a:endParaRPr lang="ko-KR" sz="1000" dirty="0"/>
          </a:p>
        </p:txBody>
      </p:sp>
      <p:sp>
        <p:nvSpPr>
          <p:cNvPr id="32" name="Text 30"/>
          <p:cNvSpPr/>
          <p:nvPr/>
        </p:nvSpPr>
        <p:spPr>
          <a:xfrm>
            <a:off x="8494776" y="2532888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상체 · 머리</a:t>
            </a:r>
            <a:endParaRPr lang="ko-KR" sz="1300" dirty="0"/>
          </a:p>
        </p:txBody>
      </p:sp>
      <p:sp>
        <p:nvSpPr>
          <p:cNvPr id="33" name="Text 31"/>
          <p:cNvSpPr/>
          <p:nvPr/>
        </p:nvSpPr>
        <p:spPr>
          <a:xfrm>
            <a:off x="8494776" y="27980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제한적 방향 전환</a:t>
            </a:r>
            <a:endParaRPr lang="ko-KR" sz="1200" dirty="0"/>
          </a:p>
        </p:txBody>
      </p:sp>
      <p:sp>
        <p:nvSpPr>
          <p:cNvPr id="34" name="Shape 32"/>
          <p:cNvSpPr/>
          <p:nvPr/>
        </p:nvSpPr>
        <p:spPr>
          <a:xfrm>
            <a:off x="8494776" y="3127248"/>
            <a:ext cx="2688336" cy="0"/>
          </a:xfrm>
          <a:prstGeom prst="line">
            <a:avLst/>
          </a:prstGeom>
          <a:noFill/>
          <a:ln w="10160">
            <a:solidFill>
              <a:srgbClr val="3440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94776" y="325526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양손 · 팔</a:t>
            </a:r>
            <a:endParaRPr lang="ko-KR" sz="1300" dirty="0"/>
          </a:p>
        </p:txBody>
      </p:sp>
      <p:sp>
        <p:nvSpPr>
          <p:cNvPr id="36" name="Text 34"/>
          <p:cNvSpPr/>
          <p:nvPr/>
        </p:nvSpPr>
        <p:spPr>
          <a:xfrm>
            <a:off x="8494776" y="35204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근거리 파지·방어·타격</a:t>
            </a:r>
            <a:endParaRPr lang="ko-KR" sz="1200" dirty="0"/>
          </a:p>
        </p:txBody>
      </p:sp>
      <p:sp>
        <p:nvSpPr>
          <p:cNvPr id="37" name="Shape 35"/>
          <p:cNvSpPr/>
          <p:nvPr/>
        </p:nvSpPr>
        <p:spPr>
          <a:xfrm>
            <a:off x="8494776" y="3849624"/>
            <a:ext cx="2688336" cy="0"/>
          </a:xfrm>
          <a:prstGeom prst="line">
            <a:avLst/>
          </a:prstGeom>
          <a:noFill/>
          <a:ln w="10160">
            <a:solidFill>
              <a:srgbClr val="3440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4776" y="3977640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하체 · 다리</a:t>
            </a:r>
            <a:endParaRPr lang="ko-KR" sz="1300" dirty="0"/>
          </a:p>
        </p:txBody>
      </p:sp>
      <p:sp>
        <p:nvSpPr>
          <p:cNvPr id="39" name="Text 37"/>
          <p:cNvSpPr/>
          <p:nvPr/>
        </p:nvSpPr>
        <p:spPr>
          <a:xfrm>
            <a:off x="8494776" y="42428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매몰 / 이동 불가</a:t>
            </a:r>
            <a:endParaRPr lang="ko-KR" sz="1200" dirty="0"/>
          </a:p>
        </p:txBody>
      </p:sp>
      <p:sp>
        <p:nvSpPr>
          <p:cNvPr id="40" name="Shape 38"/>
          <p:cNvSpPr/>
          <p:nvPr/>
        </p:nvSpPr>
        <p:spPr>
          <a:xfrm>
            <a:off x="8494776" y="4572000"/>
            <a:ext cx="2688336" cy="0"/>
          </a:xfrm>
          <a:prstGeom prst="line">
            <a:avLst/>
          </a:prstGeom>
          <a:noFill/>
          <a:ln w="10160">
            <a:solidFill>
              <a:srgbClr val="3440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94776" y="4700016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여진 후</a:t>
            </a:r>
            <a:endParaRPr lang="ko-KR" sz="1300" dirty="0"/>
          </a:p>
        </p:txBody>
      </p:sp>
      <p:sp>
        <p:nvSpPr>
          <p:cNvPr id="42" name="Text 40"/>
          <p:cNvSpPr/>
          <p:nvPr/>
        </p:nvSpPr>
        <p:spPr>
          <a:xfrm>
            <a:off x="8494776" y="49651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천장 하강 / 공간 축소</a:t>
            </a:r>
            <a:endParaRPr lang="ko-KR" sz="1200" dirty="0"/>
          </a:p>
        </p:txBody>
      </p:sp>
      <p:sp>
        <p:nvSpPr>
          <p:cNvPr id="43" name="Text 41"/>
          <p:cNvSpPr/>
          <p:nvPr/>
        </p:nvSpPr>
        <p:spPr>
          <a:xfrm>
            <a:off x="8485632" y="5650992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고개나 팔이 실제 벽을 뚫지 않도록 경계 보정</a:t>
            </a:r>
            <a:endParaRPr lang="ko-K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 /  EXPERIENCE FLOW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게임 진행 흐름 · 4개의 단계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연출의 순서는 고정하되 물 섭취와 플래시 사용은 플레이어의 판단에 맡긴다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1316736" y="2816352"/>
            <a:ext cx="9555480" cy="0"/>
          </a:xfrm>
          <a:prstGeom prst="line">
            <a:avLst/>
          </a:prstGeom>
          <a:noFill/>
          <a:ln w="76200">
            <a:solidFill>
              <a:srgbClr val="34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2596896"/>
            <a:ext cx="438912" cy="438912"/>
          </a:xfrm>
          <a:prstGeom prst="ellipse">
            <a:avLst/>
          </a:prstGeom>
          <a:solidFill>
            <a:srgbClr val="171D22"/>
          </a:solidFill>
          <a:ln w="31750">
            <a:solidFill>
              <a:srgbClr val="7CC0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26883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1050" dirty="0"/>
          </a:p>
        </p:txBody>
      </p:sp>
      <p:sp>
        <p:nvSpPr>
          <p:cNvPr id="12" name="Shape 10"/>
          <p:cNvSpPr/>
          <p:nvPr/>
        </p:nvSpPr>
        <p:spPr>
          <a:xfrm>
            <a:off x="676656" y="3273552"/>
            <a:ext cx="2569464" cy="2139696"/>
          </a:xfrm>
          <a:prstGeom prst="roundRect">
            <a:avLst>
              <a:gd name="adj" fmla="val 641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0:00–1:00</a:t>
            </a:r>
            <a:endParaRPr lang="ko-KR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38130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각성</a:t>
            </a:r>
            <a:endParaRPr lang="ko-KR" sz="2400" dirty="0"/>
          </a:p>
        </p:txBody>
      </p:sp>
      <p:sp>
        <p:nvSpPr>
          <p:cNvPr id="15" name="Text 13"/>
          <p:cNvSpPr/>
          <p:nvPr/>
        </p:nvSpPr>
        <p:spPr>
          <a:xfrm>
            <a:off x="877824" y="44165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3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휴대폰 · 물통 확보</a:t>
            </a:r>
            <a:endParaRPr lang="ko-KR" sz="1320" dirty="0"/>
          </a:p>
        </p:txBody>
      </p:sp>
      <p:sp>
        <p:nvSpPr>
          <p:cNvPr id="16" name="Shape 14"/>
          <p:cNvSpPr/>
          <p:nvPr/>
        </p:nvSpPr>
        <p:spPr>
          <a:xfrm>
            <a:off x="4434840" y="2596896"/>
            <a:ext cx="438912" cy="438912"/>
          </a:xfrm>
          <a:prstGeom prst="ellipse">
            <a:avLst/>
          </a:prstGeom>
          <a:solidFill>
            <a:srgbClr val="171D22"/>
          </a:solidFill>
          <a:ln w="31750">
            <a:solidFill>
              <a:srgbClr val="DE71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26883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1050" dirty="0"/>
          </a:p>
        </p:txBody>
      </p:sp>
      <p:sp>
        <p:nvSpPr>
          <p:cNvPr id="18" name="Shape 16"/>
          <p:cNvSpPr/>
          <p:nvPr/>
        </p:nvSpPr>
        <p:spPr>
          <a:xfrm>
            <a:off x="3538728" y="3273552"/>
            <a:ext cx="2569464" cy="2139696"/>
          </a:xfrm>
          <a:prstGeom prst="roundRect">
            <a:avLst>
              <a:gd name="adj" fmla="val 641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1:00–2:30</a:t>
            </a:r>
            <a:endParaRPr lang="ko-KR" sz="1000" dirty="0"/>
          </a:p>
        </p:txBody>
      </p:sp>
      <p:sp>
        <p:nvSpPr>
          <p:cNvPr id="20" name="Text 18"/>
          <p:cNvSpPr/>
          <p:nvPr/>
        </p:nvSpPr>
        <p:spPr>
          <a:xfrm>
            <a:off x="3739896" y="38130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여진</a:t>
            </a:r>
            <a:endParaRPr lang="ko-KR" sz="2400" dirty="0"/>
          </a:p>
        </p:txBody>
      </p:sp>
      <p:sp>
        <p:nvSpPr>
          <p:cNvPr id="21" name="Text 19"/>
          <p:cNvSpPr/>
          <p:nvPr/>
        </p:nvSpPr>
        <p:spPr>
          <a:xfrm>
            <a:off x="3739896" y="44165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3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머리 방어 · 쇠파이프 낙하</a:t>
            </a:r>
            <a:endParaRPr lang="ko-KR" sz="1320" dirty="0"/>
          </a:p>
        </p:txBody>
      </p:sp>
      <p:sp>
        <p:nvSpPr>
          <p:cNvPr id="22" name="Shape 20"/>
          <p:cNvSpPr/>
          <p:nvPr/>
        </p:nvSpPr>
        <p:spPr>
          <a:xfrm>
            <a:off x="7296912" y="2596896"/>
            <a:ext cx="438912" cy="438912"/>
          </a:xfrm>
          <a:prstGeom prst="ellipse">
            <a:avLst/>
          </a:prstGeom>
          <a:solidFill>
            <a:srgbClr val="171D22"/>
          </a:solidFill>
          <a:ln w="31750">
            <a:solidFill>
              <a:srgbClr val="D7B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6883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3273552"/>
            <a:ext cx="2569464" cy="2139696"/>
          </a:xfrm>
          <a:prstGeom prst="roundRect">
            <a:avLst>
              <a:gd name="adj" fmla="val 641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2:30–4:00</a:t>
            </a:r>
            <a:endParaRPr lang="ko-KR" sz="1000" dirty="0"/>
          </a:p>
        </p:txBody>
      </p:sp>
      <p:sp>
        <p:nvSpPr>
          <p:cNvPr id="26" name="Text 24"/>
          <p:cNvSpPr/>
          <p:nvPr/>
        </p:nvSpPr>
        <p:spPr>
          <a:xfrm>
            <a:off x="6601968" y="38130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고립</a:t>
            </a:r>
            <a:endParaRPr lang="ko-KR" sz="2400" dirty="0"/>
          </a:p>
        </p:txBody>
      </p:sp>
      <p:sp>
        <p:nvSpPr>
          <p:cNvPr id="27" name="Text 25"/>
          <p:cNvSpPr/>
          <p:nvPr/>
        </p:nvSpPr>
        <p:spPr>
          <a:xfrm>
            <a:off x="6601968" y="44165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3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갈증 · 배터리 · 주변 이벤트</a:t>
            </a:r>
            <a:endParaRPr lang="ko-KR" sz="1320" dirty="0"/>
          </a:p>
        </p:txBody>
      </p:sp>
      <p:sp>
        <p:nvSpPr>
          <p:cNvPr id="28" name="Shape 26"/>
          <p:cNvSpPr/>
          <p:nvPr/>
        </p:nvSpPr>
        <p:spPr>
          <a:xfrm>
            <a:off x="10158984" y="2596896"/>
            <a:ext cx="438912" cy="438912"/>
          </a:xfrm>
          <a:prstGeom prst="ellipse">
            <a:avLst/>
          </a:prstGeom>
          <a:solidFill>
            <a:srgbClr val="171D22"/>
          </a:solidFill>
          <a:ln w="31750">
            <a:solidFill>
              <a:srgbClr val="89C3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77272" y="26883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ko-KR" sz="1050" dirty="0"/>
          </a:p>
        </p:txBody>
      </p:sp>
      <p:sp>
        <p:nvSpPr>
          <p:cNvPr id="30" name="Shape 28"/>
          <p:cNvSpPr/>
          <p:nvPr/>
        </p:nvSpPr>
        <p:spPr>
          <a:xfrm>
            <a:off x="9262872" y="3273552"/>
            <a:ext cx="2569464" cy="2139696"/>
          </a:xfrm>
          <a:prstGeom prst="roundRect">
            <a:avLst>
              <a:gd name="adj" fmla="val 641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4:00–5:00</a:t>
            </a:r>
            <a:endParaRPr lang="ko-KR" sz="1000" dirty="0"/>
          </a:p>
        </p:txBody>
      </p:sp>
      <p:sp>
        <p:nvSpPr>
          <p:cNvPr id="32" name="Text 30"/>
          <p:cNvSpPr/>
          <p:nvPr/>
        </p:nvSpPr>
        <p:spPr>
          <a:xfrm>
            <a:off x="9464040" y="38130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구조</a:t>
            </a:r>
            <a:endParaRPr lang="ko-KR" sz="2400" dirty="0"/>
          </a:p>
        </p:txBody>
      </p:sp>
      <p:sp>
        <p:nvSpPr>
          <p:cNvPr id="33" name="Text 31"/>
          <p:cNvSpPr/>
          <p:nvPr/>
        </p:nvSpPr>
        <p:spPr>
          <a:xfrm>
            <a:off x="9464040" y="44165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3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규칙적인 소리로 위치 전달</a:t>
            </a:r>
            <a:endParaRPr lang="ko-KR" sz="1320" dirty="0"/>
          </a:p>
        </p:txBody>
      </p:sp>
      <p:sp>
        <p:nvSpPr>
          <p:cNvPr id="34" name="Text 32"/>
          <p:cNvSpPr/>
          <p:nvPr/>
        </p:nvSpPr>
        <p:spPr>
          <a:xfrm>
            <a:off x="704088" y="5678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CORE LOOP</a:t>
            </a:r>
            <a:endParaRPr lang="ko-KR" sz="1000" dirty="0"/>
          </a:p>
        </p:txBody>
      </p:sp>
      <p:sp>
        <p:nvSpPr>
          <p:cNvPr id="35" name="Text 33"/>
          <p:cNvSpPr/>
          <p:nvPr/>
        </p:nvSpPr>
        <p:spPr>
          <a:xfrm>
            <a:off x="2112264" y="5678424"/>
            <a:ext cx="8869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환경 변화 인지   →   물체 탐색   →   행동 선택   →   시청각 피드백</a:t>
            </a:r>
            <a:endParaRPr 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 /  MINIMAL INTERFACE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금이 간 스마트폰 · 오직 두 가지 기능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자신의 휴대폰이 아니므로 잠금 해제 불가. 잠금 화면에서 긴급전화와 플래시만 상호작용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1299271" y="1766255"/>
            <a:ext cx="2423617" cy="4294480"/>
          </a:xfrm>
          <a:prstGeom prst="roundRect">
            <a:avLst>
              <a:gd name="adj" fmla="val 5659"/>
            </a:avLst>
          </a:prstGeom>
          <a:solidFill>
            <a:srgbClr val="05080B"/>
          </a:solidFill>
          <a:ln w="12700">
            <a:solidFill>
              <a:srgbClr val="0508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664208"/>
            <a:ext cx="2423617" cy="4294480"/>
          </a:xfrm>
          <a:prstGeom prst="roundRect">
            <a:avLst>
              <a:gd name="adj" fmla="val 5659"/>
            </a:avLst>
          </a:prstGeom>
          <a:solidFill>
            <a:srgbClr val="2A353C"/>
          </a:solidFill>
          <a:ln w="12700">
            <a:solidFill>
              <a:srgbClr val="6570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767" y="1783263"/>
            <a:ext cx="2219523" cy="4039362"/>
          </a:xfrm>
          <a:prstGeom prst="roundRect">
            <a:avLst>
              <a:gd name="adj" fmla="val 6180"/>
            </a:avLst>
          </a:prstGeom>
          <a:solidFill>
            <a:srgbClr val="0B1117"/>
          </a:solidFill>
          <a:ln w="12700">
            <a:solidFill>
              <a:srgbClr val="0B111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2497" y="1800271"/>
            <a:ext cx="136063" cy="136063"/>
          </a:xfrm>
          <a:prstGeom prst="ellipse">
            <a:avLst/>
          </a:prstGeom>
          <a:solidFill>
            <a:srgbClr val="1B2931"/>
          </a:solidFill>
          <a:ln w="12700">
            <a:solidFill>
              <a:srgbClr val="1B29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4861" y="2216963"/>
            <a:ext cx="1811335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3162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21:47</a:t>
            </a:r>
            <a:endParaRPr lang="ko-KR" sz="3162" dirty="0"/>
          </a:p>
        </p:txBody>
      </p:sp>
      <p:sp>
        <p:nvSpPr>
          <p:cNvPr id="14" name="Text 12"/>
          <p:cNvSpPr/>
          <p:nvPr/>
        </p:nvSpPr>
        <p:spPr>
          <a:xfrm>
            <a:off x="1528877" y="2727198"/>
            <a:ext cx="1743304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16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잠금 화면</a:t>
            </a:r>
            <a:endParaRPr lang="ko-KR" sz="1116" dirty="0"/>
          </a:p>
        </p:txBody>
      </p:sp>
      <p:sp>
        <p:nvSpPr>
          <p:cNvPr id="15" name="Shape 13"/>
          <p:cNvSpPr/>
          <p:nvPr/>
        </p:nvSpPr>
        <p:spPr>
          <a:xfrm>
            <a:off x="1392814" y="1842790"/>
            <a:ext cx="799368" cy="1097006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2183" y="2939796"/>
            <a:ext cx="0" cy="612282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2183" y="2939796"/>
            <a:ext cx="561259" cy="705825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2183" y="2939796"/>
            <a:ext cx="841888" cy="0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3441" y="3645621"/>
            <a:ext cx="603778" cy="314645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53441" y="3645621"/>
            <a:ext cx="0" cy="663306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4940" y="3552078"/>
            <a:ext cx="0" cy="459212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4071" y="2259482"/>
            <a:ext cx="374172" cy="0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4071" y="2259482"/>
            <a:ext cx="136063" cy="467716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3206" y="4308927"/>
            <a:ext cx="433700" cy="374172"/>
          </a:xfrm>
          <a:prstGeom prst="line">
            <a:avLst/>
          </a:prstGeom>
          <a:noFill/>
          <a:ln w="8255">
            <a:solidFill>
              <a:srgbClr val="6272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5885" y="4836170"/>
            <a:ext cx="544251" cy="544251"/>
          </a:xfrm>
          <a:prstGeom prst="ellipse">
            <a:avLst/>
          </a:prstGeom>
          <a:solidFill>
            <a:srgbClr val="20453F"/>
          </a:solidFill>
          <a:ln w="15240">
            <a:solidFill>
              <a:srgbClr val="89C3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8404" y="4895698"/>
            <a:ext cx="467716" cy="36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860" b="1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☎</a:t>
            </a:r>
            <a:endParaRPr lang="ko-KR" sz="1860" dirty="0"/>
          </a:p>
        </p:txBody>
      </p:sp>
      <p:sp>
        <p:nvSpPr>
          <p:cNvPr id="27" name="Shape 25"/>
          <p:cNvSpPr/>
          <p:nvPr/>
        </p:nvSpPr>
        <p:spPr>
          <a:xfrm>
            <a:off x="2727930" y="4836170"/>
            <a:ext cx="544251" cy="544251"/>
          </a:xfrm>
          <a:prstGeom prst="ellipse">
            <a:avLst/>
          </a:prstGeom>
          <a:solidFill>
            <a:srgbClr val="3C392A"/>
          </a:solidFill>
          <a:ln w="15240">
            <a:solidFill>
              <a:srgbClr val="D7B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2969" y="4895698"/>
            <a:ext cx="357165" cy="36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86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ko-KR" sz="1860" dirty="0"/>
          </a:p>
        </p:txBody>
      </p:sp>
      <p:sp>
        <p:nvSpPr>
          <p:cNvPr id="29" name="Text 27"/>
          <p:cNvSpPr/>
          <p:nvPr/>
        </p:nvSpPr>
        <p:spPr>
          <a:xfrm>
            <a:off x="1350294" y="5431445"/>
            <a:ext cx="901416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3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긴급전화</a:t>
            </a:r>
            <a:endParaRPr lang="ko-KR" sz="1023" dirty="0"/>
          </a:p>
        </p:txBody>
      </p:sp>
      <p:sp>
        <p:nvSpPr>
          <p:cNvPr id="30" name="Text 28"/>
          <p:cNvSpPr/>
          <p:nvPr/>
        </p:nvSpPr>
        <p:spPr>
          <a:xfrm>
            <a:off x="2515332" y="5431445"/>
            <a:ext cx="901416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3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플래시</a:t>
            </a:r>
            <a:endParaRPr lang="ko-KR" sz="1023" dirty="0"/>
          </a:p>
        </p:txBody>
      </p:sp>
      <p:sp>
        <p:nvSpPr>
          <p:cNvPr id="31" name="Shape 29"/>
          <p:cNvSpPr/>
          <p:nvPr/>
        </p:nvSpPr>
        <p:spPr>
          <a:xfrm>
            <a:off x="4608576" y="1938528"/>
            <a:ext cx="6885432" cy="1024128"/>
          </a:xfrm>
          <a:prstGeom prst="roundRect">
            <a:avLst>
              <a:gd name="adj" fmla="val 13393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55464" y="2185416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89C3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9180" y="2300150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1500" dirty="0"/>
          </a:p>
        </p:txBody>
      </p:sp>
      <p:sp>
        <p:nvSpPr>
          <p:cNvPr id="34" name="Text 32"/>
          <p:cNvSpPr/>
          <p:nvPr/>
        </p:nvSpPr>
        <p:spPr>
          <a:xfrm>
            <a:off x="5621091" y="2307569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긴급전화</a:t>
            </a:r>
            <a:endParaRPr lang="ko-KR" sz="2000" dirty="0"/>
          </a:p>
        </p:txBody>
      </p:sp>
      <p:sp>
        <p:nvSpPr>
          <p:cNvPr id="35" name="Text 33"/>
          <p:cNvSpPr/>
          <p:nvPr/>
        </p:nvSpPr>
        <p:spPr>
          <a:xfrm>
            <a:off x="7607808" y="2374190"/>
            <a:ext cx="3648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잠금 상태에서도 신고 시도 가능</a:t>
            </a:r>
            <a:endParaRPr lang="ko-KR" sz="1300" dirty="0"/>
          </a:p>
        </p:txBody>
      </p:sp>
      <p:sp>
        <p:nvSpPr>
          <p:cNvPr id="36" name="Shape 34"/>
          <p:cNvSpPr/>
          <p:nvPr/>
        </p:nvSpPr>
        <p:spPr>
          <a:xfrm>
            <a:off x="4608576" y="3246120"/>
            <a:ext cx="6885432" cy="1024128"/>
          </a:xfrm>
          <a:prstGeom prst="roundRect">
            <a:avLst>
              <a:gd name="adj" fmla="val 13393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55464" y="3493008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9180" y="3607742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1500" dirty="0"/>
          </a:p>
        </p:txBody>
      </p:sp>
      <p:sp>
        <p:nvSpPr>
          <p:cNvPr id="39" name="Text 37"/>
          <p:cNvSpPr/>
          <p:nvPr/>
        </p:nvSpPr>
        <p:spPr>
          <a:xfrm>
            <a:off x="5577840" y="3593455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플래시 켜기 / 끄기</a:t>
            </a:r>
            <a:endParaRPr lang="ko-KR" sz="1900" dirty="0"/>
          </a:p>
        </p:txBody>
      </p:sp>
      <p:sp>
        <p:nvSpPr>
          <p:cNvPr id="40" name="Text 38"/>
          <p:cNvSpPr/>
          <p:nvPr/>
        </p:nvSpPr>
        <p:spPr>
          <a:xfrm>
            <a:off x="7711440" y="363917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3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어둠 속 물체 탐색 · 배터리 소모</a:t>
            </a:r>
            <a:endParaRPr lang="ko-KR" sz="1230" dirty="0"/>
          </a:p>
        </p:txBody>
      </p:sp>
      <p:sp>
        <p:nvSpPr>
          <p:cNvPr id="41" name="Shape 39"/>
          <p:cNvSpPr/>
          <p:nvPr/>
        </p:nvSpPr>
        <p:spPr>
          <a:xfrm>
            <a:off x="4608576" y="4572000"/>
            <a:ext cx="6885432" cy="1179576"/>
          </a:xfrm>
          <a:prstGeom prst="roundRect">
            <a:avLst>
              <a:gd name="adj" fmla="val 1162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55464" y="4901184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E716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2882" y="5021144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!</a:t>
            </a:r>
            <a:endParaRPr lang="ko-KR" sz="1500" dirty="0"/>
          </a:p>
        </p:txBody>
      </p:sp>
      <p:sp>
        <p:nvSpPr>
          <p:cNvPr id="44" name="Text 42"/>
          <p:cNvSpPr/>
          <p:nvPr/>
        </p:nvSpPr>
        <p:spPr>
          <a:xfrm>
            <a:off x="5586984" y="4837176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손상 연출</a:t>
            </a:r>
            <a:endParaRPr lang="ko-KR" sz="1900" dirty="0"/>
          </a:p>
        </p:txBody>
      </p:sp>
      <p:sp>
        <p:nvSpPr>
          <p:cNvPr id="45" name="Text 43"/>
          <p:cNvSpPr/>
          <p:nvPr/>
        </p:nvSpPr>
        <p:spPr>
          <a:xfrm>
            <a:off x="5586984" y="52852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깨진 유리 · 일부 조작 제한 · 배터리 20% 미만 경고</a:t>
            </a:r>
            <a:endParaRPr lang="ko-KR" sz="1240" dirty="0"/>
          </a:p>
        </p:txBody>
      </p:sp>
      <p:sp>
        <p:nvSpPr>
          <p:cNvPr id="46" name="Text 44"/>
          <p:cNvSpPr/>
          <p:nvPr/>
        </p:nvSpPr>
        <p:spPr>
          <a:xfrm>
            <a:off x="4645152" y="5989320"/>
            <a:ext cx="6793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화면에 퀘스트 목록·체력 바·산소 바는 표시하지 않음</a:t>
            </a:r>
            <a:endParaRPr lang="ko-KR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 /  STAGE 01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1단계 · 매몰 직후 각성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무너지는 소리에서 시작. 눈을 뜨고 제한된 공간과 주변의 생존 자원을 발견한다.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783080"/>
            <a:ext cx="6647688" cy="3749040"/>
          </a:xfrm>
          <a:prstGeom prst="roundRect">
            <a:avLst>
              <a:gd name="adj" fmla="val 3659"/>
            </a:avLst>
          </a:prstGeom>
          <a:solidFill>
            <a:srgbClr val="202931"/>
          </a:solidFill>
          <a:ln w="12700">
            <a:solidFill>
              <a:srgbClr val="344049"/>
            </a:solidFill>
            <a:prstDash val="solid"/>
          </a:ln>
        </p:spPr>
      </p:sp>
      <p:pic>
        <p:nvPicPr>
          <p:cNvPr id="10" name="Image 0" descr="/mnt/data/work_vr/assets/scene_03_e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01368"/>
            <a:ext cx="6611112" cy="37124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" y="5641848"/>
            <a:ext cx="1417320" cy="320040"/>
          </a:xfrm>
          <a:prstGeom prst="roundRect">
            <a:avLst>
              <a:gd name="adj" fmla="val 42857"/>
            </a:avLst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5692140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0:00 – 1:00</a:t>
            </a:r>
            <a:endParaRPr lang="ko-KR" sz="1020" dirty="0"/>
          </a:p>
        </p:txBody>
      </p:sp>
      <p:sp>
        <p:nvSpPr>
          <p:cNvPr id="13" name="Shape 10"/>
          <p:cNvSpPr/>
          <p:nvPr/>
        </p:nvSpPr>
        <p:spPr>
          <a:xfrm>
            <a:off x="7479792" y="1810512"/>
            <a:ext cx="4005072" cy="4325112"/>
          </a:xfrm>
          <a:prstGeom prst="roundRect">
            <a:avLst>
              <a:gd name="adj" fmla="val 3425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63256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SCENE 01</a:t>
            </a:r>
            <a:endParaRPr lang="ko-KR" sz="1000" dirty="0"/>
          </a:p>
        </p:txBody>
      </p:sp>
      <p:sp>
        <p:nvSpPr>
          <p:cNvPr id="15" name="Text 12"/>
          <p:cNvSpPr/>
          <p:nvPr/>
        </p:nvSpPr>
        <p:spPr>
          <a:xfrm>
            <a:off x="7754112" y="252374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도입</a:t>
            </a:r>
            <a:endParaRPr lang="ko-KR" sz="1200" dirty="0"/>
          </a:p>
        </p:txBody>
      </p:sp>
      <p:sp>
        <p:nvSpPr>
          <p:cNvPr id="16" name="Text 13"/>
          <p:cNvSpPr/>
          <p:nvPr/>
        </p:nvSpPr>
        <p:spPr>
          <a:xfrm>
            <a:off x="8732520" y="2523744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붕괴음 → 암전 → 서서히 눈 뜨는 연출</a:t>
            </a:r>
            <a:endParaRPr lang="ko-KR" sz="1240" dirty="0"/>
          </a:p>
        </p:txBody>
      </p:sp>
      <p:sp>
        <p:nvSpPr>
          <p:cNvPr id="17" name="Text 14"/>
          <p:cNvSpPr/>
          <p:nvPr/>
        </p:nvSpPr>
        <p:spPr>
          <a:xfrm>
            <a:off x="7754112" y="327355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상호작용</a:t>
            </a:r>
            <a:endParaRPr lang="ko-KR" sz="1200" dirty="0"/>
          </a:p>
        </p:txBody>
      </p:sp>
      <p:sp>
        <p:nvSpPr>
          <p:cNvPr id="18" name="Text 15"/>
          <p:cNvSpPr/>
          <p:nvPr/>
        </p:nvSpPr>
        <p:spPr>
          <a:xfrm>
            <a:off x="8732520" y="327355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켜져 있는 휴대폰을 집고 긴급전화·플래시 확인</a:t>
            </a:r>
            <a:endParaRPr lang="ko-KR" sz="1240" dirty="0"/>
          </a:p>
        </p:txBody>
      </p:sp>
      <p:sp>
        <p:nvSpPr>
          <p:cNvPr id="19" name="Text 16"/>
          <p:cNvSpPr/>
          <p:nvPr/>
        </p:nvSpPr>
        <p:spPr>
          <a:xfrm>
            <a:off x="7754112" y="40233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탐색</a:t>
            </a:r>
            <a:endParaRPr lang="ko-KR" sz="1200" dirty="0"/>
          </a:p>
        </p:txBody>
      </p:sp>
      <p:sp>
        <p:nvSpPr>
          <p:cNvPr id="20" name="Text 17"/>
          <p:cNvSpPr/>
          <p:nvPr/>
        </p:nvSpPr>
        <p:spPr>
          <a:xfrm>
            <a:off x="8732520" y="4023360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손이 닿는 위치의 물통 발견 및 확보</a:t>
            </a:r>
            <a:endParaRPr lang="ko-KR" sz="1240" dirty="0"/>
          </a:p>
        </p:txBody>
      </p:sp>
      <p:sp>
        <p:nvSpPr>
          <p:cNvPr id="21" name="Text 18"/>
          <p:cNvSpPr/>
          <p:nvPr/>
        </p:nvSpPr>
        <p:spPr>
          <a:xfrm>
            <a:off x="7754112" y="477316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환경 변화</a:t>
            </a:r>
            <a:endParaRPr lang="ko-KR" sz="1200" dirty="0"/>
          </a:p>
        </p:txBody>
      </p:sp>
      <p:sp>
        <p:nvSpPr>
          <p:cNvPr id="22" name="Text 19"/>
          <p:cNvSpPr/>
          <p:nvPr/>
        </p:nvSpPr>
        <p:spPr>
          <a:xfrm>
            <a:off x="8732520" y="4773168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초기 분진은 시간이 지나며 자연스럽게 가라앉음</a:t>
            </a:r>
            <a:endParaRPr lang="ko-KR" sz="1240" dirty="0"/>
          </a:p>
        </p:txBody>
      </p:sp>
      <p:sp>
        <p:nvSpPr>
          <p:cNvPr id="23" name="Text 20"/>
          <p:cNvSpPr/>
          <p:nvPr/>
        </p:nvSpPr>
        <p:spPr>
          <a:xfrm>
            <a:off x="685800" y="598932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 조건: 시간 경과에 따른 다음 단계 진입.</a:t>
            </a:r>
            <a:endParaRPr lang="ko-KR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 /  STAGE 02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2단계 · 여진과 머리 보호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여진으로 천장이 더 낮아지고 작은 파편이 떨어진다. 가까운 곳에 쇠파이프가 떨어진다.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810512"/>
            <a:ext cx="5769864" cy="3483864"/>
          </a:xfrm>
          <a:prstGeom prst="roundRect">
            <a:avLst>
              <a:gd name="adj" fmla="val 3937"/>
            </a:avLst>
          </a:prstGeom>
          <a:solidFill>
            <a:srgbClr val="202931"/>
          </a:solidFill>
          <a:ln w="12700">
            <a:solidFill>
              <a:srgbClr val="344049"/>
            </a:solidFill>
            <a:prstDash val="solid"/>
          </a:ln>
        </p:spPr>
      </p:sp>
      <p:pic>
        <p:nvPicPr>
          <p:cNvPr id="10" name="Image 0" descr="/mnt/data/work_vr/assets/scene_05_e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733288" cy="34472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3816" y="5458968"/>
            <a:ext cx="1472184" cy="320040"/>
          </a:xfrm>
          <a:prstGeom prst="roundRect">
            <a:avLst>
              <a:gd name="adj" fmla="val 42857"/>
            </a:avLst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5509260"/>
            <a:ext cx="1289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1:00 – 2:30</a:t>
            </a:r>
            <a:endParaRPr lang="ko-KR" sz="1020" dirty="0"/>
          </a:p>
        </p:txBody>
      </p:sp>
      <p:sp>
        <p:nvSpPr>
          <p:cNvPr id="13" name="Shape 10"/>
          <p:cNvSpPr/>
          <p:nvPr/>
        </p:nvSpPr>
        <p:spPr>
          <a:xfrm>
            <a:off x="6629400" y="1828800"/>
            <a:ext cx="4855464" cy="3456432"/>
          </a:xfrm>
          <a:prstGeom prst="roundRect">
            <a:avLst>
              <a:gd name="adj" fmla="val 396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20939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PROTECTION CHECK</a:t>
            </a:r>
            <a:endParaRPr lang="ko-KR" sz="1000" dirty="0"/>
          </a:p>
        </p:txBody>
      </p:sp>
      <p:sp>
        <p:nvSpPr>
          <p:cNvPr id="15" name="Shape 12"/>
          <p:cNvSpPr/>
          <p:nvPr/>
        </p:nvSpPr>
        <p:spPr>
          <a:xfrm>
            <a:off x="7022592" y="2697480"/>
            <a:ext cx="356616" cy="356616"/>
          </a:xfrm>
          <a:prstGeom prst="ellipse">
            <a:avLst/>
          </a:prstGeom>
          <a:solidFill>
            <a:srgbClr val="202931"/>
          </a:solidFill>
          <a:ln w="25400">
            <a:solidFill>
              <a:srgbClr val="89C3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14032" y="2743200"/>
            <a:ext cx="192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ko-KR" sz="1400" dirty="0"/>
          </a:p>
        </p:txBody>
      </p:sp>
      <p:sp>
        <p:nvSpPr>
          <p:cNvPr id="17" name="Text 14"/>
          <p:cNvSpPr/>
          <p:nvPr/>
        </p:nvSpPr>
        <p:spPr>
          <a:xfrm>
            <a:off x="7543800" y="2715768"/>
            <a:ext cx="3502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양손으로 머리를 보호</a:t>
            </a:r>
            <a:endParaRPr lang="ko-KR" sz="1600" dirty="0"/>
          </a:p>
        </p:txBody>
      </p:sp>
      <p:sp>
        <p:nvSpPr>
          <p:cNvPr id="18" name="Text 15"/>
          <p:cNvSpPr/>
          <p:nvPr/>
        </p:nvSpPr>
        <p:spPr>
          <a:xfrm>
            <a:off x="7543800" y="305409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머리 보호 영역이 유지되면 피해 없음</a:t>
            </a:r>
            <a:endParaRPr lang="ko-KR" sz="1200" dirty="0"/>
          </a:p>
        </p:txBody>
      </p:sp>
      <p:sp>
        <p:nvSpPr>
          <p:cNvPr id="19" name="Shape 16"/>
          <p:cNvSpPr/>
          <p:nvPr/>
        </p:nvSpPr>
        <p:spPr>
          <a:xfrm>
            <a:off x="6903720" y="3547872"/>
            <a:ext cx="4197096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22592" y="3776472"/>
            <a:ext cx="356616" cy="356616"/>
          </a:xfrm>
          <a:prstGeom prst="ellipse">
            <a:avLst/>
          </a:prstGeom>
          <a:solidFill>
            <a:srgbClr val="202931"/>
          </a:solidFill>
          <a:ln w="25400">
            <a:solidFill>
              <a:srgbClr val="DE71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0" y="3813048"/>
            <a:ext cx="155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!</a:t>
            </a:r>
            <a:endParaRPr lang="ko-KR" sz="1400" dirty="0"/>
          </a:p>
        </p:txBody>
      </p:sp>
      <p:sp>
        <p:nvSpPr>
          <p:cNvPr id="22" name="Text 19"/>
          <p:cNvSpPr/>
          <p:nvPr/>
        </p:nvSpPr>
        <p:spPr>
          <a:xfrm>
            <a:off x="7543800" y="3794760"/>
            <a:ext cx="3529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보호하지 못했을 경우</a:t>
            </a:r>
            <a:endParaRPr lang="ko-KR" sz="1600" dirty="0"/>
          </a:p>
        </p:txBody>
      </p:sp>
      <p:sp>
        <p:nvSpPr>
          <p:cNvPr id="23" name="Text 20"/>
          <p:cNvSpPr/>
          <p:nvPr/>
        </p:nvSpPr>
        <p:spPr>
          <a:xfrm>
            <a:off x="7543800" y="41330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가장자리에 붉은 피격 효과 표시</a:t>
            </a:r>
            <a:endParaRPr lang="ko-KR" sz="1200" dirty="0"/>
          </a:p>
        </p:txBody>
      </p:sp>
      <p:sp>
        <p:nvSpPr>
          <p:cNvPr id="24" name="Text 21"/>
          <p:cNvSpPr/>
          <p:nvPr/>
        </p:nvSpPr>
        <p:spPr>
          <a:xfrm>
            <a:off x="685800" y="5989320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여진 표현은 오브젝트·소리·분진 중심으로 구성. VR 카메라 강제 흔들림은 최소화.</a:t>
            </a:r>
            <a:endParaRPr lang="ko-KR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 /  STAGE 03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3단계 · 고립과 자원 관리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물과 배터리를 어떻게 사용할지는 플레이어의 선택. 갈증과 주변 환경이 심리적 압박을 만든다.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49224" y="1847088"/>
            <a:ext cx="6446520" cy="1892808"/>
          </a:xfrm>
          <a:prstGeom prst="roundRect">
            <a:avLst>
              <a:gd name="adj" fmla="val 7246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30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WATER · 갈증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905256" y="2523744"/>
            <a:ext cx="53309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“목이 말라가는군”</a:t>
            </a:r>
            <a:endParaRPr lang="ko-KR" sz="2100" dirty="0"/>
          </a:p>
        </p:txBody>
      </p:sp>
      <p:sp>
        <p:nvSpPr>
          <p:cNvPr id="12" name="Text 10"/>
          <p:cNvSpPr/>
          <p:nvPr/>
        </p:nvSpPr>
        <p:spPr>
          <a:xfrm>
            <a:off x="905256" y="3081528"/>
            <a:ext cx="5797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갈증이 누적되면 시야가 흐려짐 → 물통을 입 근처로 가져가 마시면 회복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49224" y="3895344"/>
            <a:ext cx="6446520" cy="1874520"/>
          </a:xfrm>
          <a:prstGeom prst="roundRect">
            <a:avLst>
              <a:gd name="adj" fmla="val 731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1513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BATTERY · 선택</a:t>
            </a:r>
            <a:endParaRPr lang="ko-KR" sz="1000" dirty="0"/>
          </a:p>
        </p:txBody>
      </p:sp>
      <p:sp>
        <p:nvSpPr>
          <p:cNvPr id="15" name="Text 13"/>
          <p:cNvSpPr/>
          <p:nvPr/>
        </p:nvSpPr>
        <p:spPr>
          <a:xfrm>
            <a:off x="905256" y="4517136"/>
            <a:ext cx="54315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20% 미만 배터리 경고</a:t>
            </a:r>
            <a:endParaRPr lang="ko-KR" sz="1900" dirty="0"/>
          </a:p>
        </p:txBody>
      </p:sp>
      <p:sp>
        <p:nvSpPr>
          <p:cNvPr id="16" name="Text 14"/>
          <p:cNvSpPr/>
          <p:nvPr/>
        </p:nvSpPr>
        <p:spPr>
          <a:xfrm>
            <a:off x="905256" y="5047488"/>
            <a:ext cx="5769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손전등을 켜면 탐색이 쉬워지지만 소모량 증가. 끄면 주변 소리를 들으며 대기</a:t>
            </a:r>
            <a:endParaRPr lang="ko-KR" sz="1300" dirty="0"/>
          </a:p>
        </p:txBody>
      </p:sp>
      <p:sp>
        <p:nvSpPr>
          <p:cNvPr id="17" name="Shape 15"/>
          <p:cNvSpPr/>
          <p:nvPr/>
        </p:nvSpPr>
        <p:spPr>
          <a:xfrm>
            <a:off x="7333488" y="1847088"/>
            <a:ext cx="4160520" cy="3922776"/>
          </a:xfrm>
          <a:prstGeom prst="roundRect">
            <a:avLst>
              <a:gd name="adj" fmla="val 349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0376" y="209397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ENVIRONMENTAL EVENTS</a:t>
            </a:r>
            <a:endParaRPr lang="ko-KR" sz="1000" dirty="0"/>
          </a:p>
        </p:txBody>
      </p:sp>
      <p:sp>
        <p:nvSpPr>
          <p:cNvPr id="19" name="Text 17"/>
          <p:cNvSpPr/>
          <p:nvPr/>
        </p:nvSpPr>
        <p:spPr>
          <a:xfrm>
            <a:off x="7607808" y="257860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8220456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2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멀리서 들리는 신음</a:t>
            </a:r>
            <a:endParaRPr lang="ko-KR" sz="1420" dirty="0"/>
          </a:p>
        </p:txBody>
      </p:sp>
      <p:sp>
        <p:nvSpPr>
          <p:cNvPr id="21" name="Text 19"/>
          <p:cNvSpPr/>
          <p:nvPr/>
        </p:nvSpPr>
        <p:spPr>
          <a:xfrm>
            <a:off x="8220456" y="2926080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사람의 존재를 암시</a:t>
            </a:r>
            <a:endParaRPr lang="ko-KR" sz="1160" dirty="0"/>
          </a:p>
        </p:txBody>
      </p:sp>
      <p:sp>
        <p:nvSpPr>
          <p:cNvPr id="22" name="Text 20"/>
          <p:cNvSpPr/>
          <p:nvPr/>
        </p:nvSpPr>
        <p:spPr>
          <a:xfrm>
            <a:off x="7607808" y="3483864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1600" dirty="0"/>
          </a:p>
        </p:txBody>
      </p:sp>
      <p:sp>
        <p:nvSpPr>
          <p:cNvPr id="23" name="Text 21"/>
          <p:cNvSpPr/>
          <p:nvPr/>
        </p:nvSpPr>
        <p:spPr>
          <a:xfrm>
            <a:off x="8220456" y="3483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2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잔해 틈의 쥐</a:t>
            </a:r>
            <a:endParaRPr lang="ko-KR" sz="1420" dirty="0"/>
          </a:p>
        </p:txBody>
      </p:sp>
      <p:sp>
        <p:nvSpPr>
          <p:cNvPr id="24" name="Text 22"/>
          <p:cNvSpPr/>
          <p:nvPr/>
        </p:nvSpPr>
        <p:spPr>
          <a:xfrm>
            <a:off x="8220456" y="3831336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순간적인 움직임으로 긴장감</a:t>
            </a:r>
            <a:endParaRPr lang="ko-KR" sz="1160" dirty="0"/>
          </a:p>
        </p:txBody>
      </p:sp>
      <p:sp>
        <p:nvSpPr>
          <p:cNvPr id="25" name="Text 23"/>
          <p:cNvSpPr/>
          <p:nvPr/>
        </p:nvSpPr>
        <p:spPr>
          <a:xfrm>
            <a:off x="7607808" y="438912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1600" dirty="0"/>
          </a:p>
        </p:txBody>
      </p:sp>
      <p:sp>
        <p:nvSpPr>
          <p:cNvPr id="26" name="Text 24"/>
          <p:cNvSpPr/>
          <p:nvPr/>
        </p:nvSpPr>
        <p:spPr>
          <a:xfrm>
            <a:off x="8220456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2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깊어지는 적막</a:t>
            </a:r>
            <a:endParaRPr lang="ko-KR" sz="1420" dirty="0"/>
          </a:p>
        </p:txBody>
      </p:sp>
      <p:sp>
        <p:nvSpPr>
          <p:cNvPr id="27" name="Text 25"/>
          <p:cNvSpPr/>
          <p:nvPr/>
        </p:nvSpPr>
        <p:spPr>
          <a:xfrm>
            <a:off x="8220456" y="473659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고립감과 청각적 집중 강화</a:t>
            </a:r>
            <a:endParaRPr lang="ko-KR" sz="1160" dirty="0"/>
          </a:p>
        </p:txBody>
      </p:sp>
      <p:sp>
        <p:nvSpPr>
          <p:cNvPr id="28" name="Text 26"/>
          <p:cNvSpPr/>
          <p:nvPr/>
        </p:nvSpPr>
        <p:spPr>
          <a:xfrm>
            <a:off x="685800" y="596188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게임 내 갈증 악화·사망은 장기 고립을 4~6분으로 압축한 게임적 규칙이며 실제 생리적 경과를 의미하지 않음.</a:t>
            </a:r>
            <a:endParaRPr lang="ko-KR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 /  STAGE 04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4단계 · 구조 신호와 구출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윗방향에서 희미한 무전과 구조대 음성이 들린다. 플레이어가 신호를 보내면 빛이 들어온다.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49224" y="1837944"/>
            <a:ext cx="6071616" cy="3950208"/>
          </a:xfrm>
          <a:prstGeom prst="roundRect">
            <a:avLst>
              <a:gd name="adj" fmla="val 3472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2002536" y="2331720"/>
            <a:ext cx="3200400" cy="2926080"/>
          </a:xfrm>
          <a:prstGeom prst="triangle">
            <a:avLst/>
          </a:prstGeom>
          <a:solidFill>
            <a:srgbClr val="E2D4A2">
              <a:alpha val="23000"/>
            </a:srgbClr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2843784" y="2039112"/>
            <a:ext cx="1463040" cy="3429000"/>
          </a:xfrm>
          <a:prstGeom prst="triangle">
            <a:avLst/>
          </a:prstGeom>
          <a:solidFill>
            <a:srgbClr val="EAE7DB">
              <a:alpha val="34000"/>
            </a:srgbClr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2743200"/>
            <a:ext cx="1700784" cy="0"/>
          </a:xfrm>
          <a:prstGeom prst="line">
            <a:avLst/>
          </a:prstGeom>
          <a:noFill/>
          <a:ln w="88900">
            <a:solidFill>
              <a:srgbClr val="7F86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743200"/>
            <a:ext cx="1691640" cy="0"/>
          </a:xfrm>
          <a:prstGeom prst="line">
            <a:avLst/>
          </a:prstGeom>
          <a:noFill/>
          <a:ln w="88900">
            <a:solidFill>
              <a:srgbClr val="7F86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4910328"/>
            <a:ext cx="1161288" cy="118872"/>
          </a:xfrm>
          <a:prstGeom prst="rect">
            <a:avLst/>
          </a:prstGeom>
          <a:solidFill>
            <a:srgbClr val="9B9D99"/>
          </a:solidFill>
          <a:ln w="12700">
            <a:solidFill>
              <a:srgbClr val="9B9D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4992624"/>
            <a:ext cx="1700784" cy="137160"/>
          </a:xfrm>
          <a:prstGeom prst="rect">
            <a:avLst/>
          </a:prstGeom>
          <a:solidFill>
            <a:srgbClr val="747A7A"/>
          </a:solidFill>
          <a:ln w="12700">
            <a:solidFill>
              <a:srgbClr val="747A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1396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위쪽 구조대 소리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5358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탕    ·    탕    ·    탕</a:t>
            </a:r>
            <a:endParaRPr lang="ko-KR" sz="1800" dirty="0"/>
          </a:p>
        </p:txBody>
      </p:sp>
      <p:sp>
        <p:nvSpPr>
          <p:cNvPr id="18" name="Shape 16"/>
          <p:cNvSpPr/>
          <p:nvPr/>
        </p:nvSpPr>
        <p:spPr>
          <a:xfrm>
            <a:off x="6940296" y="1837944"/>
            <a:ext cx="4562856" cy="3950208"/>
          </a:xfrm>
          <a:prstGeom prst="roundRect">
            <a:avLst>
              <a:gd name="adj" fmla="val 3472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2121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RESCUE SIGNAL</a:t>
            </a:r>
            <a:endParaRPr lang="ko-KR" sz="1000" dirty="0"/>
          </a:p>
        </p:txBody>
      </p:sp>
      <p:sp>
        <p:nvSpPr>
          <p:cNvPr id="20" name="Shape 18"/>
          <p:cNvSpPr/>
          <p:nvPr/>
        </p:nvSpPr>
        <p:spPr>
          <a:xfrm>
            <a:off x="7196328" y="2651760"/>
            <a:ext cx="3977640" cy="1097280"/>
          </a:xfrm>
          <a:prstGeom prst="roundRect">
            <a:avLst>
              <a:gd name="adj" fmla="val 1250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82549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62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방식 A  /  쇠파이프 타격</a:t>
            </a:r>
            <a:endParaRPr lang="ko-KR" sz="1620" dirty="0"/>
          </a:p>
        </p:txBody>
      </p:sp>
      <p:sp>
        <p:nvSpPr>
          <p:cNvPr id="22" name="Text 20"/>
          <p:cNvSpPr/>
          <p:nvPr/>
        </p:nvSpPr>
        <p:spPr>
          <a:xfrm>
            <a:off x="7406640" y="3191256"/>
            <a:ext cx="3557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ko-KR" altLang="en-US" sz="123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2단계에서 얻은 쇠파이프로 철근이나 배관을 규칙적으로 타격</a:t>
            </a:r>
            <a:endParaRPr lang="ko-KR" sz="1230" dirty="0"/>
          </a:p>
        </p:txBody>
      </p:sp>
      <p:sp>
        <p:nvSpPr>
          <p:cNvPr id="23" name="Shape 21"/>
          <p:cNvSpPr/>
          <p:nvPr/>
        </p:nvSpPr>
        <p:spPr>
          <a:xfrm>
            <a:off x="7196328" y="3913632"/>
            <a:ext cx="3977640" cy="1097280"/>
          </a:xfrm>
          <a:prstGeom prst="roundRect">
            <a:avLst>
              <a:gd name="adj" fmla="val 12500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408736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62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방식 B  /  일정한 소리</a:t>
            </a:r>
            <a:endParaRPr lang="ko-KR" sz="1620" dirty="0"/>
          </a:p>
        </p:txBody>
      </p:sp>
      <p:sp>
        <p:nvSpPr>
          <p:cNvPr id="25" name="Text 23"/>
          <p:cNvSpPr/>
          <p:nvPr/>
        </p:nvSpPr>
        <p:spPr>
          <a:xfrm>
            <a:off x="7406640" y="4453128"/>
            <a:ext cx="3557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23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마이크 등 소리 입력을 통해 일정한 구조 신호를 전달</a:t>
            </a:r>
            <a:endParaRPr lang="ko-KR" sz="1230" dirty="0"/>
          </a:p>
        </p:txBody>
      </p:sp>
      <p:sp>
        <p:nvSpPr>
          <p:cNvPr id="26" name="Text 24"/>
          <p:cNvSpPr/>
          <p:nvPr/>
        </p:nvSpPr>
        <p:spPr>
          <a:xfrm>
            <a:off x="685800" y="5961888"/>
            <a:ext cx="10661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 연출: 구조대 응답 → 잔해 사이의 빛이 점차 밝아짐 → 화면 전환 및 결과 확인</a:t>
            </a:r>
            <a:endParaRPr lang="ko-KR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 /  RESOURCE LOGIC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자원·위험 상태의 내부 판정 규칙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화면에 상시 게이지를 띄우지 않되 게임 내부에서는 수치로 상태를 관리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5321808" cy="4105656"/>
          </a:xfrm>
          <a:prstGeom prst="roundRect">
            <a:avLst>
              <a:gd name="adj" fmla="val 334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PHONE BATTERY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551176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배터리 20% 미만</a:t>
            </a:r>
            <a:endParaRPr lang="ko-KR" sz="2400" dirty="0"/>
          </a:p>
        </p:txBody>
      </p:sp>
      <p:sp>
        <p:nvSpPr>
          <p:cNvPr id="12" name="Text 10"/>
          <p:cNvSpPr/>
          <p:nvPr/>
        </p:nvSpPr>
        <p:spPr>
          <a:xfrm>
            <a:off x="932688" y="2990088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경고 알림 표시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923544" y="3584448"/>
            <a:ext cx="4270248" cy="137160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" y="3584448"/>
            <a:ext cx="854050" cy="137160"/>
          </a:xfrm>
          <a:prstGeom prst="rect">
            <a:avLst/>
          </a:prstGeom>
          <a:solidFill>
            <a:srgbClr val="DE716D"/>
          </a:solidFill>
          <a:ln w="12700">
            <a:solidFill>
              <a:srgbClr val="DE716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22192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20% 경고</a:t>
            </a:r>
            <a:endParaRPr lang="ko-KR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4306824"/>
            <a:ext cx="4379976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62686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체크 기준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5020056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잔량 15% 이상</a:t>
            </a:r>
            <a:endParaRPr lang="ko-KR" sz="2000" dirty="0"/>
          </a:p>
        </p:txBody>
      </p:sp>
      <p:sp>
        <p:nvSpPr>
          <p:cNvPr id="19" name="Shape 17"/>
          <p:cNvSpPr/>
          <p:nvPr/>
        </p:nvSpPr>
        <p:spPr>
          <a:xfrm>
            <a:off x="6172200" y="1847088"/>
            <a:ext cx="5321808" cy="4105656"/>
          </a:xfrm>
          <a:prstGeom prst="roundRect">
            <a:avLst>
              <a:gd name="adj" fmla="val 334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DRINKING WATER</a:t>
            </a:r>
            <a:endParaRPr lang="ko-KR" sz="1000" dirty="0"/>
          </a:p>
        </p:txBody>
      </p:sp>
      <p:sp>
        <p:nvSpPr>
          <p:cNvPr id="21" name="Text 19"/>
          <p:cNvSpPr/>
          <p:nvPr/>
        </p:nvSpPr>
        <p:spPr>
          <a:xfrm>
            <a:off x="6455664" y="25511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목마름은 시야로 표현</a:t>
            </a:r>
            <a:endParaRPr lang="ko-KR" sz="2200" dirty="0"/>
          </a:p>
        </p:txBody>
      </p:sp>
      <p:sp>
        <p:nvSpPr>
          <p:cNvPr id="22" name="Text 20"/>
          <p:cNvSpPr/>
          <p:nvPr/>
        </p:nvSpPr>
        <p:spPr>
          <a:xfrm>
            <a:off x="6455664" y="299008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필요할 때 플레이어가 직접 물을 마심</a:t>
            </a:r>
            <a:endParaRPr lang="ko-KR" sz="1260" dirty="0"/>
          </a:p>
        </p:txBody>
      </p:sp>
      <p:sp>
        <p:nvSpPr>
          <p:cNvPr id="23" name="Shape 21"/>
          <p:cNvSpPr/>
          <p:nvPr/>
        </p:nvSpPr>
        <p:spPr>
          <a:xfrm>
            <a:off x="6455664" y="3584448"/>
            <a:ext cx="4270248" cy="137160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3584448"/>
            <a:ext cx="854050" cy="13716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822192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20% 보존</a:t>
            </a:r>
            <a:endParaRPr lang="ko-KR" sz="1100" dirty="0"/>
          </a:p>
        </p:txBody>
      </p:sp>
      <p:sp>
        <p:nvSpPr>
          <p:cNvPr id="26" name="Shape 24"/>
          <p:cNvSpPr/>
          <p:nvPr/>
        </p:nvSpPr>
        <p:spPr>
          <a:xfrm>
            <a:off x="6455664" y="4306824"/>
            <a:ext cx="4379976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462686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체크 기준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6455664" y="5020056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잔량 20% 이상</a:t>
            </a:r>
            <a:endParaRPr lang="ko-KR" sz="2000" dirty="0"/>
          </a:p>
        </p:txBody>
      </p:sp>
      <p:sp>
        <p:nvSpPr>
          <p:cNvPr id="29" name="Text 27"/>
          <p:cNvSpPr/>
          <p:nvPr/>
        </p:nvSpPr>
        <p:spPr>
          <a:xfrm>
            <a:off x="676656" y="6025896"/>
            <a:ext cx="10661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지나치게 물을 아껴 갈증을 방치하면 사망 처리. 위 두 기준은 결과 화면 체크 항목으로만 공개.</a:t>
            </a:r>
            <a:endParaRPr lang="ko-KR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 /  INTERACTION RULES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플레이어 행동과 게임 피드백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손·머리의 위치와 오브젝트의 충돌을 이용하는 직관적 상호작용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865376"/>
            <a:ext cx="2834640" cy="512064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20824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행동</a:t>
            </a:r>
            <a:endParaRPr lang="ko-KR" sz="1200" dirty="0"/>
          </a:p>
        </p:txBody>
      </p:sp>
      <p:sp>
        <p:nvSpPr>
          <p:cNvPr id="11" name="Shape 9"/>
          <p:cNvSpPr/>
          <p:nvPr/>
        </p:nvSpPr>
        <p:spPr>
          <a:xfrm>
            <a:off x="3666744" y="1865376"/>
            <a:ext cx="2834640" cy="512064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020824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판정</a:t>
            </a:r>
            <a:endParaRPr lang="ko-KR" sz="1200" dirty="0"/>
          </a:p>
        </p:txBody>
      </p:sp>
      <p:sp>
        <p:nvSpPr>
          <p:cNvPr id="13" name="Shape 11"/>
          <p:cNvSpPr/>
          <p:nvPr/>
        </p:nvSpPr>
        <p:spPr>
          <a:xfrm>
            <a:off x="6693408" y="1865376"/>
            <a:ext cx="2459736" cy="512064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202082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성공 피드백</a:t>
            </a:r>
            <a:endParaRPr lang="ko-KR" sz="1200" dirty="0"/>
          </a:p>
        </p:txBody>
      </p:sp>
      <p:sp>
        <p:nvSpPr>
          <p:cNvPr id="15" name="Shape 13"/>
          <p:cNvSpPr/>
          <p:nvPr/>
        </p:nvSpPr>
        <p:spPr>
          <a:xfrm>
            <a:off x="9354312" y="1865376"/>
            <a:ext cx="2112264" cy="512064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0208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실패/위험 피드백</a:t>
            </a:r>
            <a:endParaRPr lang="ko-KR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450592"/>
            <a:ext cx="2834640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78608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스마트폰 집기</a:t>
            </a:r>
            <a:endParaRPr lang="ko-KR" sz="1300" dirty="0"/>
          </a:p>
        </p:txBody>
      </p:sp>
      <p:sp>
        <p:nvSpPr>
          <p:cNvPr id="19" name="Shape 17"/>
          <p:cNvSpPr/>
          <p:nvPr/>
        </p:nvSpPr>
        <p:spPr>
          <a:xfrm>
            <a:off x="3666744" y="2450592"/>
            <a:ext cx="2834640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2578608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손의 Grab 입력</a:t>
            </a:r>
            <a:endParaRPr lang="ko-KR" sz="1180" dirty="0"/>
          </a:p>
        </p:txBody>
      </p:sp>
      <p:sp>
        <p:nvSpPr>
          <p:cNvPr id="21" name="Shape 19"/>
          <p:cNvSpPr/>
          <p:nvPr/>
        </p:nvSpPr>
        <p:spPr>
          <a:xfrm>
            <a:off x="6693408" y="2450592"/>
            <a:ext cx="2459736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578608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플래시·긴급전화 사용</a:t>
            </a:r>
            <a:endParaRPr lang="ko-KR" sz="1180" dirty="0"/>
          </a:p>
        </p:txBody>
      </p:sp>
      <p:sp>
        <p:nvSpPr>
          <p:cNvPr id="23" name="Shape 21"/>
          <p:cNvSpPr/>
          <p:nvPr/>
        </p:nvSpPr>
        <p:spPr>
          <a:xfrm>
            <a:off x="9354312" y="2450592"/>
            <a:ext cx="2112264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2578608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접근/잡기 힌트</a:t>
            </a:r>
            <a:endParaRPr lang="ko-KR" sz="1180" dirty="0"/>
          </a:p>
        </p:txBody>
      </p:sp>
      <p:sp>
        <p:nvSpPr>
          <p:cNvPr id="25" name="Shape 23"/>
          <p:cNvSpPr/>
          <p:nvPr/>
        </p:nvSpPr>
        <p:spPr>
          <a:xfrm>
            <a:off x="640080" y="3300984"/>
            <a:ext cx="2834640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429000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양손 머리 보호</a:t>
            </a:r>
            <a:endParaRPr lang="ko-KR" sz="1300" dirty="0"/>
          </a:p>
        </p:txBody>
      </p:sp>
      <p:sp>
        <p:nvSpPr>
          <p:cNvPr id="27" name="Shape 25"/>
          <p:cNvSpPr/>
          <p:nvPr/>
        </p:nvSpPr>
        <p:spPr>
          <a:xfrm>
            <a:off x="3666744" y="3300984"/>
            <a:ext cx="2834640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85616" y="3429000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머리 보호영역의 손 유지</a:t>
            </a:r>
            <a:endParaRPr lang="ko-KR" sz="1180" dirty="0"/>
          </a:p>
        </p:txBody>
      </p:sp>
      <p:sp>
        <p:nvSpPr>
          <p:cNvPr id="29" name="Shape 27"/>
          <p:cNvSpPr/>
          <p:nvPr/>
        </p:nvSpPr>
        <p:spPr>
          <a:xfrm>
            <a:off x="6693408" y="3300984"/>
            <a:ext cx="2459736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429000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파편 피해 없음</a:t>
            </a:r>
            <a:endParaRPr lang="ko-KR" sz="1180" dirty="0"/>
          </a:p>
        </p:txBody>
      </p:sp>
      <p:sp>
        <p:nvSpPr>
          <p:cNvPr id="31" name="Shape 29"/>
          <p:cNvSpPr/>
          <p:nvPr/>
        </p:nvSpPr>
        <p:spPr>
          <a:xfrm>
            <a:off x="9354312" y="3300984"/>
            <a:ext cx="2112264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73184" y="3429000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가장자리 붉어짐</a:t>
            </a:r>
            <a:endParaRPr lang="ko-KR" sz="1180" dirty="0"/>
          </a:p>
        </p:txBody>
      </p:sp>
      <p:sp>
        <p:nvSpPr>
          <p:cNvPr id="33" name="Shape 31"/>
          <p:cNvSpPr/>
          <p:nvPr/>
        </p:nvSpPr>
        <p:spPr>
          <a:xfrm>
            <a:off x="640080" y="4151376"/>
            <a:ext cx="2834640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4279392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물통으로 마시기</a:t>
            </a:r>
            <a:endParaRPr lang="ko-KR" sz="1300" dirty="0"/>
          </a:p>
        </p:txBody>
      </p:sp>
      <p:sp>
        <p:nvSpPr>
          <p:cNvPr id="35" name="Shape 33"/>
          <p:cNvSpPr/>
          <p:nvPr/>
        </p:nvSpPr>
        <p:spPr>
          <a:xfrm>
            <a:off x="3666744" y="4151376"/>
            <a:ext cx="2834640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4279392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용기 위치 + 마시기 입력</a:t>
            </a:r>
            <a:endParaRPr lang="ko-KR" sz="1180" dirty="0"/>
          </a:p>
        </p:txBody>
      </p:sp>
      <p:sp>
        <p:nvSpPr>
          <p:cNvPr id="37" name="Shape 35"/>
          <p:cNvSpPr/>
          <p:nvPr/>
        </p:nvSpPr>
        <p:spPr>
          <a:xfrm>
            <a:off x="6693408" y="4151376"/>
            <a:ext cx="2459736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4279392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시야 흐림이 회복됨</a:t>
            </a:r>
            <a:endParaRPr lang="ko-KR" sz="1180" dirty="0"/>
          </a:p>
        </p:txBody>
      </p:sp>
      <p:sp>
        <p:nvSpPr>
          <p:cNvPr id="39" name="Shape 37"/>
          <p:cNvSpPr/>
          <p:nvPr/>
        </p:nvSpPr>
        <p:spPr>
          <a:xfrm>
            <a:off x="9354312" y="4151376"/>
            <a:ext cx="2112264" cy="768096"/>
          </a:xfrm>
          <a:prstGeom prst="rect">
            <a:avLst/>
          </a:prstGeom>
          <a:solidFill>
            <a:srgbClr val="202931"/>
          </a:solidFill>
          <a:ln w="12700">
            <a:solidFill>
              <a:srgbClr val="202931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73184" y="4279392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갈증 지속 · 사망 가능</a:t>
            </a:r>
            <a:endParaRPr lang="ko-KR" sz="1180" dirty="0"/>
          </a:p>
        </p:txBody>
      </p:sp>
      <p:sp>
        <p:nvSpPr>
          <p:cNvPr id="41" name="Shape 39"/>
          <p:cNvSpPr/>
          <p:nvPr/>
        </p:nvSpPr>
        <p:spPr>
          <a:xfrm>
            <a:off x="640080" y="5001768"/>
            <a:ext cx="2834640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5129784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쇠파이프 타격</a:t>
            </a:r>
            <a:endParaRPr lang="ko-KR" sz="1300" dirty="0"/>
          </a:p>
        </p:txBody>
      </p:sp>
      <p:sp>
        <p:nvSpPr>
          <p:cNvPr id="43" name="Shape 41"/>
          <p:cNvSpPr/>
          <p:nvPr/>
        </p:nvSpPr>
        <p:spPr>
          <a:xfrm>
            <a:off x="3666744" y="5001768"/>
            <a:ext cx="2834640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85616" y="5129784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배관 충돌 + 규칙성</a:t>
            </a:r>
            <a:endParaRPr lang="ko-KR" sz="1180" dirty="0"/>
          </a:p>
        </p:txBody>
      </p:sp>
      <p:sp>
        <p:nvSpPr>
          <p:cNvPr id="45" name="Shape 43"/>
          <p:cNvSpPr/>
          <p:nvPr/>
        </p:nvSpPr>
        <p:spPr>
          <a:xfrm>
            <a:off x="6693408" y="5001768"/>
            <a:ext cx="2459736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5129784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구조대 음성 응답</a:t>
            </a:r>
            <a:endParaRPr lang="ko-KR" sz="1180" dirty="0"/>
          </a:p>
        </p:txBody>
      </p:sp>
      <p:sp>
        <p:nvSpPr>
          <p:cNvPr id="47" name="Shape 45"/>
          <p:cNvSpPr/>
          <p:nvPr/>
        </p:nvSpPr>
        <p:spPr>
          <a:xfrm>
            <a:off x="9354312" y="5001768"/>
            <a:ext cx="2112264" cy="768096"/>
          </a:xfrm>
          <a:prstGeom prst="rect">
            <a:avLst/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73184" y="5129784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8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신호 재시도 유도</a:t>
            </a:r>
            <a:endParaRPr lang="ko-KR" sz="1180" dirty="0"/>
          </a:p>
        </p:txBody>
      </p:sp>
      <p:sp>
        <p:nvSpPr>
          <p:cNvPr id="49" name="Shape 47"/>
          <p:cNvSpPr/>
          <p:nvPr/>
        </p:nvSpPr>
        <p:spPr>
          <a:xfrm>
            <a:off x="649224" y="5961888"/>
            <a:ext cx="10817352" cy="320040"/>
          </a:xfrm>
          <a:prstGeom prst="roundRect">
            <a:avLst>
              <a:gd name="adj" fmla="val 42857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" y="6025896"/>
            <a:ext cx="10460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생존 행동의 성공 조건은 내부 판정. 스마트폰에 긴 단계별 퀘스트 텍스트를 출력하지 않는다.</a:t>
            </a:r>
            <a:endParaRPr lang="ko-KR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 /  END SCREEN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체험 종료 · 행동요령 결과 체크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화면에서 네 가지 조건을 체크박스로 보여주고 다시 체험할 수 있도록 한다.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1426464" y="1773936"/>
            <a:ext cx="9345168" cy="4489704"/>
          </a:xfrm>
          <a:prstGeom prst="roundRect">
            <a:avLst>
              <a:gd name="adj" fmla="val 3055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07568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SURVIVAL CHECKLIST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1911096" y="2487168"/>
            <a:ext cx="6922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나의 생존 행동 기록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1920240" y="31181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1115"/>
          </a:solidFill>
          <a:ln w="12700">
            <a:solidFill>
              <a:srgbClr val="A6B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10438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여진에서 머리를 손으로 보호했는가?</a:t>
            </a:r>
            <a:endParaRPr lang="ko-KR" sz="1600" dirty="0"/>
          </a:p>
        </p:txBody>
      </p:sp>
      <p:sp>
        <p:nvSpPr>
          <p:cNvPr id="14" name="Shape 12"/>
          <p:cNvSpPr/>
          <p:nvPr/>
        </p:nvSpPr>
        <p:spPr>
          <a:xfrm>
            <a:off x="1911096" y="3557016"/>
            <a:ext cx="8311896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1115"/>
          </a:solidFill>
          <a:ln w="12700">
            <a:solidFill>
              <a:srgbClr val="A6B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68960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스마트폰 배터리를 15% 이상으로 유지했는가?</a:t>
            </a:r>
            <a:endParaRPr lang="ko-KR" sz="1600" dirty="0"/>
          </a:p>
        </p:txBody>
      </p:sp>
      <p:sp>
        <p:nvSpPr>
          <p:cNvPr id="17" name="Shape 15"/>
          <p:cNvSpPr/>
          <p:nvPr/>
        </p:nvSpPr>
        <p:spPr>
          <a:xfrm>
            <a:off x="1911096" y="4142232"/>
            <a:ext cx="8311896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42885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1115"/>
          </a:solidFill>
          <a:ln w="12700">
            <a:solidFill>
              <a:srgbClr val="A6B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427482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물을 20% 이상 남겨뒀는가?</a:t>
            </a:r>
            <a:endParaRPr lang="ko-KR" sz="1600" dirty="0"/>
          </a:p>
        </p:txBody>
      </p:sp>
      <p:sp>
        <p:nvSpPr>
          <p:cNvPr id="20" name="Shape 18"/>
          <p:cNvSpPr/>
          <p:nvPr/>
        </p:nvSpPr>
        <p:spPr>
          <a:xfrm>
            <a:off x="1911096" y="4727448"/>
            <a:ext cx="8311896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48737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1115"/>
          </a:solidFill>
          <a:ln w="12700">
            <a:solidFill>
              <a:srgbClr val="A6B2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4860036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구조 신호를 규칙적으로 전달했는가?</a:t>
            </a:r>
            <a:endParaRPr lang="ko-KR" sz="1600" dirty="0"/>
          </a:p>
        </p:txBody>
      </p:sp>
      <p:sp>
        <p:nvSpPr>
          <p:cNvPr id="23" name="Shape 21"/>
          <p:cNvSpPr/>
          <p:nvPr/>
        </p:nvSpPr>
        <p:spPr>
          <a:xfrm>
            <a:off x="4507992" y="5532120"/>
            <a:ext cx="2971800" cy="438912"/>
          </a:xfrm>
          <a:prstGeom prst="roundRect">
            <a:avLst>
              <a:gd name="adj" fmla="val 31250"/>
            </a:avLst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56418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05080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다시 체험하기  ↻</a:t>
            </a:r>
            <a:endParaRPr lang="ko-KR" sz="1400" dirty="0"/>
          </a:p>
        </p:txBody>
      </p:sp>
      <p:sp>
        <p:nvSpPr>
          <p:cNvPr id="25" name="Text 23"/>
          <p:cNvSpPr/>
          <p:nvPr/>
        </p:nvSpPr>
        <p:spPr>
          <a:xfrm>
            <a:off x="603504" y="6259068"/>
            <a:ext cx="9829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체크 여부는 실제 플레이 기록에 따라 자동 표시. 조건 미달 시 항목을 비선택 상태로 표현.</a:t>
            </a:r>
            <a:endParaRPr lang="ko-KR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 /  AUDIOVISUAL DIRECTION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시청각 연출 · 보이지 않는 공포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공간을 움직이기보다 주변의 소리·분진·빛이 달라지는 방식으로 공포감 형성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947672"/>
            <a:ext cx="2633472" cy="3502152"/>
          </a:xfrm>
          <a:prstGeom prst="roundRect">
            <a:avLst>
              <a:gd name="adj" fmla="val 520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176272"/>
            <a:ext cx="2249424" cy="6858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52374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33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3300" dirty="0"/>
          </a:p>
        </p:txBody>
      </p:sp>
      <p:sp>
        <p:nvSpPr>
          <p:cNvPr id="12" name="Text 10"/>
          <p:cNvSpPr/>
          <p:nvPr/>
        </p:nvSpPr>
        <p:spPr>
          <a:xfrm>
            <a:off x="859536" y="329184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초기 각성</a:t>
            </a:r>
            <a:endParaRPr lang="ko-KR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90448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붕괴음 / 먼지 / 느린 시야 회복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3511296" y="1947672"/>
            <a:ext cx="2633472" cy="3502152"/>
          </a:xfrm>
          <a:prstGeom prst="roundRect">
            <a:avLst>
              <a:gd name="adj" fmla="val 520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2176272"/>
            <a:ext cx="2249424" cy="68580"/>
          </a:xfrm>
          <a:prstGeom prst="rect">
            <a:avLst/>
          </a:prstGeom>
          <a:solidFill>
            <a:srgbClr val="DE716D"/>
          </a:solidFill>
          <a:ln w="12700">
            <a:solidFill>
              <a:srgbClr val="DE716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52374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330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3300" dirty="0"/>
          </a:p>
        </p:txBody>
      </p:sp>
      <p:sp>
        <p:nvSpPr>
          <p:cNvPr id="17" name="Text 15"/>
          <p:cNvSpPr/>
          <p:nvPr/>
        </p:nvSpPr>
        <p:spPr>
          <a:xfrm>
            <a:off x="3712464" y="329184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여진</a:t>
            </a:r>
            <a:endParaRPr lang="ko-KR" sz="2000" dirty="0"/>
          </a:p>
        </p:txBody>
      </p:sp>
      <p:sp>
        <p:nvSpPr>
          <p:cNvPr id="18" name="Text 16"/>
          <p:cNvSpPr/>
          <p:nvPr/>
        </p:nvSpPr>
        <p:spPr>
          <a:xfrm>
            <a:off x="3712464" y="390448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콘크리트 마찰음 / 파편 / 천장 하강</a:t>
            </a:r>
            <a:endParaRPr lang="ko-KR" sz="1400" dirty="0"/>
          </a:p>
        </p:txBody>
      </p:sp>
      <p:sp>
        <p:nvSpPr>
          <p:cNvPr id="19" name="Shape 17"/>
          <p:cNvSpPr/>
          <p:nvPr/>
        </p:nvSpPr>
        <p:spPr>
          <a:xfrm>
            <a:off x="6364224" y="1947672"/>
            <a:ext cx="2633472" cy="3502152"/>
          </a:xfrm>
          <a:prstGeom prst="roundRect">
            <a:avLst>
              <a:gd name="adj" fmla="val 520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176272"/>
            <a:ext cx="2249424" cy="6858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52374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3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3300" dirty="0"/>
          </a:p>
        </p:txBody>
      </p:sp>
      <p:sp>
        <p:nvSpPr>
          <p:cNvPr id="22" name="Text 20"/>
          <p:cNvSpPr/>
          <p:nvPr/>
        </p:nvSpPr>
        <p:spPr>
          <a:xfrm>
            <a:off x="6565392" y="329184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고립</a:t>
            </a:r>
            <a:endParaRPr lang="ko-KR" sz="2000" dirty="0"/>
          </a:p>
        </p:txBody>
      </p:sp>
      <p:sp>
        <p:nvSpPr>
          <p:cNvPr id="23" name="Text 21"/>
          <p:cNvSpPr/>
          <p:nvPr/>
        </p:nvSpPr>
        <p:spPr>
          <a:xfrm>
            <a:off x="6565392" y="390448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침묵 / 고통스러운 소리 / 쥐 / 플래시 약화</a:t>
            </a:r>
            <a:endParaRPr lang="ko-KR" sz="1400" dirty="0"/>
          </a:p>
        </p:txBody>
      </p:sp>
      <p:sp>
        <p:nvSpPr>
          <p:cNvPr id="24" name="Shape 22"/>
          <p:cNvSpPr/>
          <p:nvPr/>
        </p:nvSpPr>
        <p:spPr>
          <a:xfrm>
            <a:off x="9217152" y="1947672"/>
            <a:ext cx="2633472" cy="3502152"/>
          </a:xfrm>
          <a:prstGeom prst="roundRect">
            <a:avLst>
              <a:gd name="adj" fmla="val 5208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90888" y="2176272"/>
            <a:ext cx="2249424" cy="68580"/>
          </a:xfrm>
          <a:prstGeom prst="rect">
            <a:avLst/>
          </a:prstGeom>
          <a:solidFill>
            <a:srgbClr val="89C3A4"/>
          </a:solidFill>
          <a:ln w="12700">
            <a:solidFill>
              <a:srgbClr val="89C3A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52374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3300" b="1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ko-KR" sz="3300" dirty="0"/>
          </a:p>
        </p:txBody>
      </p:sp>
      <p:sp>
        <p:nvSpPr>
          <p:cNvPr id="27" name="Text 25"/>
          <p:cNvSpPr/>
          <p:nvPr/>
        </p:nvSpPr>
        <p:spPr>
          <a:xfrm>
            <a:off x="9418320" y="329184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구조</a:t>
            </a:r>
            <a:endParaRPr lang="ko-KR" sz="2000" dirty="0"/>
          </a:p>
        </p:txBody>
      </p:sp>
      <p:sp>
        <p:nvSpPr>
          <p:cNvPr id="28" name="Text 26"/>
          <p:cNvSpPr/>
          <p:nvPr/>
        </p:nvSpPr>
        <p:spPr>
          <a:xfrm>
            <a:off x="9418320" y="3904488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위쪽 무전 / 쇠파이프 타격 / 빛 확산</a:t>
            </a:r>
            <a:endParaRPr lang="ko-KR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925312"/>
            <a:ext cx="10561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VR 편안함 고려: 강제 카메라 흔들림을 지양하고 천장·파편·3D 오디오로 여진을 표현.</a:t>
            </a:r>
            <a:endParaRPr lang="ko-KR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 /  TECHNICAL PLAN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기능별 개발 구현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Unity 기반 상호작용을 우선 구현한 뒤 연출과 음성을 단계적으로 결합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376672" cy="1161288"/>
          </a:xfrm>
          <a:prstGeom prst="roundRect">
            <a:avLst>
              <a:gd name="adj" fmla="val 1181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157984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" y="2235708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1545336" y="2011680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XR Origin + OpenXR</a:t>
            </a:r>
            <a:endParaRPr lang="ko-KR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245059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HMD 시점 / 양손 컨트롤러</a:t>
            </a:r>
            <a:endParaRPr lang="ko-KR" sz="126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5376672" cy="1161288"/>
          </a:xfrm>
          <a:prstGeom prst="roundRect">
            <a:avLst>
              <a:gd name="adj" fmla="val 1181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157984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7CC0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9380" y="2235708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ko-KR" sz="1500" dirty="0"/>
          </a:p>
        </p:txBody>
      </p:sp>
      <p:sp>
        <p:nvSpPr>
          <p:cNvPr id="17" name="Text 15"/>
          <p:cNvSpPr/>
          <p:nvPr/>
        </p:nvSpPr>
        <p:spPr>
          <a:xfrm>
            <a:off x="7141464" y="2011680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XR Interaction Toolkit</a:t>
            </a:r>
            <a:endParaRPr lang="ko-KR" sz="1700" dirty="0"/>
          </a:p>
        </p:txBody>
      </p:sp>
      <p:sp>
        <p:nvSpPr>
          <p:cNvPr id="18" name="Text 16"/>
          <p:cNvSpPr/>
          <p:nvPr/>
        </p:nvSpPr>
        <p:spPr>
          <a:xfrm>
            <a:off x="7150608" y="245059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휴대폰 · 물통 · 쇠파이프 Grab</a:t>
            </a:r>
            <a:endParaRPr lang="ko-KR" sz="1260" dirty="0"/>
          </a:p>
        </p:txBody>
      </p:sp>
      <p:sp>
        <p:nvSpPr>
          <p:cNvPr id="19" name="Shape 17"/>
          <p:cNvSpPr/>
          <p:nvPr/>
        </p:nvSpPr>
        <p:spPr>
          <a:xfrm>
            <a:off x="658368" y="3145536"/>
            <a:ext cx="5376672" cy="1161288"/>
          </a:xfrm>
          <a:prstGeom prst="roundRect">
            <a:avLst>
              <a:gd name="adj" fmla="val 1181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474720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" y="3552444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ko-KR" sz="1500" dirty="0"/>
          </a:p>
        </p:txBody>
      </p:sp>
      <p:sp>
        <p:nvSpPr>
          <p:cNvPr id="22" name="Text 20"/>
          <p:cNvSpPr/>
          <p:nvPr/>
        </p:nvSpPr>
        <p:spPr>
          <a:xfrm>
            <a:off x="1545336" y="3328416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World Space UI</a:t>
            </a:r>
            <a:endParaRPr lang="ko-KR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376732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금이 간 잠금 화면 / 두 가지 버튼</a:t>
            </a:r>
            <a:endParaRPr lang="ko-KR" sz="1260" dirty="0"/>
          </a:p>
        </p:txBody>
      </p:sp>
      <p:sp>
        <p:nvSpPr>
          <p:cNvPr id="24" name="Shape 22"/>
          <p:cNvSpPr/>
          <p:nvPr/>
        </p:nvSpPr>
        <p:spPr>
          <a:xfrm>
            <a:off x="6254496" y="3145536"/>
            <a:ext cx="5376672" cy="1161288"/>
          </a:xfrm>
          <a:prstGeom prst="roundRect">
            <a:avLst>
              <a:gd name="adj" fmla="val 1181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3474720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7CC0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9380" y="3552444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ko-KR" sz="1500" dirty="0"/>
          </a:p>
        </p:txBody>
      </p:sp>
      <p:sp>
        <p:nvSpPr>
          <p:cNvPr id="27" name="Text 25"/>
          <p:cNvSpPr/>
          <p:nvPr/>
        </p:nvSpPr>
        <p:spPr>
          <a:xfrm>
            <a:off x="7141464" y="3328416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Collider / Trigger</a:t>
            </a:r>
            <a:endParaRPr lang="ko-KR" sz="1700" dirty="0"/>
          </a:p>
        </p:txBody>
      </p:sp>
      <p:sp>
        <p:nvSpPr>
          <p:cNvPr id="28" name="Text 26"/>
          <p:cNvSpPr/>
          <p:nvPr/>
        </p:nvSpPr>
        <p:spPr>
          <a:xfrm>
            <a:off x="7150608" y="376732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머리 보호 · 타격 · 마시기 판정</a:t>
            </a:r>
            <a:endParaRPr lang="ko-KR" sz="1260" dirty="0"/>
          </a:p>
        </p:txBody>
      </p:sp>
      <p:sp>
        <p:nvSpPr>
          <p:cNvPr id="29" name="Shape 27"/>
          <p:cNvSpPr/>
          <p:nvPr/>
        </p:nvSpPr>
        <p:spPr>
          <a:xfrm>
            <a:off x="658368" y="4462272"/>
            <a:ext cx="5376672" cy="1161288"/>
          </a:xfrm>
          <a:prstGeom prst="roundRect">
            <a:avLst>
              <a:gd name="adj" fmla="val 1181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4791456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D7B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" y="4869180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ko-KR" sz="1500" dirty="0"/>
          </a:p>
        </p:txBody>
      </p:sp>
      <p:sp>
        <p:nvSpPr>
          <p:cNvPr id="32" name="Text 30"/>
          <p:cNvSpPr/>
          <p:nvPr/>
        </p:nvSpPr>
        <p:spPr>
          <a:xfrm>
            <a:off x="1545336" y="4645152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State Machine</a:t>
            </a:r>
            <a:endParaRPr lang="ko-KR" sz="1700" dirty="0"/>
          </a:p>
        </p:txBody>
      </p:sp>
      <p:sp>
        <p:nvSpPr>
          <p:cNvPr id="33" name="Text 31"/>
          <p:cNvSpPr/>
          <p:nvPr/>
        </p:nvSpPr>
        <p:spPr>
          <a:xfrm>
            <a:off x="1554480" y="508406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4단계 시나리오 / 타이밍 / 종료</a:t>
            </a:r>
            <a:endParaRPr lang="ko-KR" sz="1260" dirty="0"/>
          </a:p>
        </p:txBody>
      </p:sp>
      <p:sp>
        <p:nvSpPr>
          <p:cNvPr id="34" name="Shape 32"/>
          <p:cNvSpPr/>
          <p:nvPr/>
        </p:nvSpPr>
        <p:spPr>
          <a:xfrm>
            <a:off x="6254496" y="4462272"/>
            <a:ext cx="5376672" cy="1161288"/>
          </a:xfrm>
          <a:prstGeom prst="roundRect">
            <a:avLst>
              <a:gd name="adj" fmla="val 11811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4791456"/>
            <a:ext cx="475488" cy="475488"/>
          </a:xfrm>
          <a:prstGeom prst="ellipse">
            <a:avLst/>
          </a:prstGeom>
          <a:solidFill>
            <a:srgbClr val="202931"/>
          </a:solidFill>
          <a:ln w="19050">
            <a:solidFill>
              <a:srgbClr val="7CC0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9380" y="4869180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ko-KR" sz="1500" dirty="0"/>
          </a:p>
        </p:txBody>
      </p:sp>
      <p:sp>
        <p:nvSpPr>
          <p:cNvPr id="37" name="Text 35"/>
          <p:cNvSpPr/>
          <p:nvPr/>
        </p:nvSpPr>
        <p:spPr>
          <a:xfrm>
            <a:off x="7141464" y="4645152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Audio + Mic Input</a:t>
            </a:r>
            <a:endParaRPr lang="ko-KR" sz="1700" dirty="0"/>
          </a:p>
        </p:txBody>
      </p:sp>
      <p:sp>
        <p:nvSpPr>
          <p:cNvPr id="38" name="Text 36"/>
          <p:cNvSpPr/>
          <p:nvPr/>
        </p:nvSpPr>
        <p:spPr>
          <a:xfrm>
            <a:off x="7150608" y="508406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6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공간음향 / 구조 신호 음성 입력</a:t>
            </a:r>
            <a:endParaRPr lang="ko-KR" sz="12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 /  BUILD SCOPE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우선순위 · 핵심 완성본부터</a:t>
            </a:r>
            <a:endParaRPr 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4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먼저 4단계가 처음부터 끝까지 작동하는 플레이 가능 버전을 완성</a:t>
            </a:r>
            <a:endParaRPr lang="ko-KR" sz="124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76656" y="1847088"/>
            <a:ext cx="5276088" cy="3886200"/>
          </a:xfrm>
          <a:prstGeom prst="roundRect">
            <a:avLst>
              <a:gd name="adj" fmla="val 3529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176272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MVP  /  필수</a:t>
            </a:r>
            <a:endParaRPr lang="ko-KR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660904"/>
            <a:ext cx="137160" cy="137160"/>
          </a:xfrm>
          <a:prstGeom prst="ellipse">
            <a:avLst/>
          </a:prstGeom>
          <a:solidFill>
            <a:srgbClr val="89C3A4"/>
          </a:solidFill>
          <a:ln w="12700">
            <a:solidFill>
              <a:srgbClr val="89C3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633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착석형 VR 시점 및 물체 파지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3090672"/>
            <a:ext cx="137160" cy="137160"/>
          </a:xfrm>
          <a:prstGeom prst="ellipse">
            <a:avLst/>
          </a:prstGeom>
          <a:solidFill>
            <a:srgbClr val="89C3A4"/>
          </a:solidFill>
          <a:ln w="12700">
            <a:solidFill>
              <a:srgbClr val="89C3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최소 스마트폰 UI·플래시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520440"/>
            <a:ext cx="137160" cy="137160"/>
          </a:xfrm>
          <a:prstGeom prst="ellipse">
            <a:avLst/>
          </a:prstGeom>
          <a:solidFill>
            <a:srgbClr val="89C3A4"/>
          </a:solidFill>
          <a:ln w="12700">
            <a:solidFill>
              <a:srgbClr val="89C3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4930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양손 머리 보호 / 피격 효과</a:t>
            </a:r>
            <a:endParaRPr lang="ko-KR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950208"/>
            <a:ext cx="137160" cy="137160"/>
          </a:xfrm>
          <a:prstGeom prst="ellipse">
            <a:avLst/>
          </a:prstGeom>
          <a:solidFill>
            <a:srgbClr val="89C3A4"/>
          </a:solidFill>
          <a:ln w="12700">
            <a:solidFill>
              <a:srgbClr val="89C3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9227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물통 섭취·갈증·배터리 판정</a:t>
            </a:r>
            <a:endParaRPr lang="ko-KR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4379976"/>
            <a:ext cx="137160" cy="137160"/>
          </a:xfrm>
          <a:prstGeom prst="ellipse">
            <a:avLst/>
          </a:prstGeom>
          <a:solidFill>
            <a:srgbClr val="89C3A4"/>
          </a:solidFill>
          <a:ln w="12700">
            <a:solidFill>
              <a:srgbClr val="89C3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43525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쇠파이프 타격 및 구조대 응답</a:t>
            </a:r>
            <a:endParaRPr lang="ko-KR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" y="4809744"/>
            <a:ext cx="137160" cy="137160"/>
          </a:xfrm>
          <a:prstGeom prst="ellipse">
            <a:avLst/>
          </a:prstGeom>
          <a:solidFill>
            <a:srgbClr val="89C3A4"/>
          </a:solidFill>
          <a:ln w="12700">
            <a:solidFill>
              <a:srgbClr val="89C3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47823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4단계 진행·결과 체크박스</a:t>
            </a:r>
            <a:endParaRPr lang="ko-KR" sz="1300" dirty="0"/>
          </a:p>
        </p:txBody>
      </p:sp>
      <p:sp>
        <p:nvSpPr>
          <p:cNvPr id="23" name="Shape 21"/>
          <p:cNvSpPr/>
          <p:nvPr/>
        </p:nvSpPr>
        <p:spPr>
          <a:xfrm>
            <a:off x="6199632" y="1847088"/>
            <a:ext cx="5276088" cy="3886200"/>
          </a:xfrm>
          <a:prstGeom prst="roundRect">
            <a:avLst>
              <a:gd name="adj" fmla="val 3529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217627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POLISH  /  확장</a:t>
            </a:r>
            <a:endParaRPr lang="ko-KR" sz="1000" dirty="0"/>
          </a:p>
        </p:txBody>
      </p:sp>
      <p:sp>
        <p:nvSpPr>
          <p:cNvPr id="25" name="Shape 23"/>
          <p:cNvSpPr/>
          <p:nvPr/>
        </p:nvSpPr>
        <p:spPr>
          <a:xfrm>
            <a:off x="6519672" y="2660904"/>
            <a:ext cx="137160" cy="137160"/>
          </a:xfrm>
          <a:prstGeom prst="ellipse">
            <a:avLst/>
          </a:prstGeom>
          <a:solidFill>
            <a:srgbClr val="D7B46A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633472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비상 통화 연결·실패 연출 분기</a:t>
            </a:r>
            <a:endParaRPr lang="ko-KR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3090672"/>
            <a:ext cx="137160" cy="137160"/>
          </a:xfrm>
          <a:prstGeom prst="ellipse">
            <a:avLst/>
          </a:prstGeom>
          <a:solidFill>
            <a:srgbClr val="D7B46A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063240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쥐 출현과 원거리 인물 음성 다양화</a:t>
            </a:r>
            <a:endParaRPr lang="ko-KR" sz="1300" dirty="0"/>
          </a:p>
        </p:txBody>
      </p:sp>
      <p:sp>
        <p:nvSpPr>
          <p:cNvPr id="29" name="Shape 27"/>
          <p:cNvSpPr/>
          <p:nvPr/>
        </p:nvSpPr>
        <p:spPr>
          <a:xfrm>
            <a:off x="6519672" y="3520440"/>
            <a:ext cx="137160" cy="137160"/>
          </a:xfrm>
          <a:prstGeom prst="ellipse">
            <a:avLst/>
          </a:prstGeom>
          <a:solidFill>
            <a:srgbClr val="D7B46A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493008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마이크 구조 신호 인식 안정화</a:t>
            </a:r>
            <a:endParaRPr lang="ko-KR" sz="1300" dirty="0"/>
          </a:p>
        </p:txBody>
      </p:sp>
      <p:sp>
        <p:nvSpPr>
          <p:cNvPr id="31" name="Shape 29"/>
          <p:cNvSpPr/>
          <p:nvPr/>
        </p:nvSpPr>
        <p:spPr>
          <a:xfrm>
            <a:off x="6519672" y="3950208"/>
            <a:ext cx="137160" cy="137160"/>
          </a:xfrm>
          <a:prstGeom prst="ellipse">
            <a:avLst/>
          </a:prstGeom>
          <a:solidFill>
            <a:srgbClr val="D7B46A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922776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파편·조명·분진 시각 효과 개선</a:t>
            </a:r>
            <a:endParaRPr lang="ko-KR" sz="1300" dirty="0"/>
          </a:p>
        </p:txBody>
      </p:sp>
      <p:sp>
        <p:nvSpPr>
          <p:cNvPr id="33" name="Shape 31"/>
          <p:cNvSpPr/>
          <p:nvPr/>
        </p:nvSpPr>
        <p:spPr>
          <a:xfrm>
            <a:off x="6519672" y="4379976"/>
            <a:ext cx="137160" cy="137160"/>
          </a:xfrm>
          <a:prstGeom prst="ellipse">
            <a:avLst/>
          </a:prstGeom>
          <a:solidFill>
            <a:srgbClr val="D7B46A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4352544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편의·접근성 설정</a:t>
            </a:r>
            <a:endParaRPr lang="ko-KR" sz="1300" dirty="0"/>
          </a:p>
        </p:txBody>
      </p:sp>
      <p:sp>
        <p:nvSpPr>
          <p:cNvPr id="35" name="Shape 33"/>
          <p:cNvSpPr/>
          <p:nvPr/>
        </p:nvSpPr>
        <p:spPr>
          <a:xfrm>
            <a:off x="6519672" y="4809744"/>
            <a:ext cx="137160" cy="137160"/>
          </a:xfrm>
          <a:prstGeom prst="ellipse">
            <a:avLst/>
          </a:prstGeom>
          <a:solidFill>
            <a:srgbClr val="D7B46A"/>
          </a:solidFill>
          <a:ln w="12700">
            <a:solidFill>
              <a:srgbClr val="D7B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782312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VR 기기별 성능 최적화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 /  SOLO DEVELOPMENT SCHEDULE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일정 · 10월 15일 ~ 11월 26일</a:t>
            </a:r>
            <a:endParaRPr lang="ko-KR" sz="2800" dirty="0"/>
          </a:p>
        </p:txBody>
      </p:sp>
      <p:sp>
        <p:nvSpPr>
          <p:cNvPr id="6" name="Shape 4"/>
          <p:cNvSpPr/>
          <p:nvPr/>
        </p:nvSpPr>
        <p:spPr>
          <a:xfrm>
            <a:off x="603504" y="6519672"/>
            <a:ext cx="10981944" cy="0"/>
          </a:xfrm>
          <a:prstGeom prst="line">
            <a:avLst/>
          </a:prstGeom>
          <a:noFill/>
          <a:ln w="8890">
            <a:solidFill>
              <a:srgbClr val="344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7453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750" dirty="0">
                <a:solidFill>
                  <a:srgbClr val="6D7D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BREATH IN THE RUBBLE  /  VR CONCEPT PROPOSAL</a:t>
            </a:r>
            <a:endParaRPr lang="ko-KR" sz="750" dirty="0"/>
          </a:p>
        </p:txBody>
      </p:sp>
      <p:sp>
        <p:nvSpPr>
          <p:cNvPr id="8" name="Text 6"/>
          <p:cNvSpPr/>
          <p:nvPr/>
        </p:nvSpPr>
        <p:spPr>
          <a:xfrm>
            <a:off x="11128248" y="6556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5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457808"/>
            <a:ext cx="2642616" cy="475488"/>
          </a:xfrm>
          <a:prstGeom prst="roundRect">
            <a:avLst>
              <a:gd name="adj" fmla="val 28846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85824"/>
            <a:ext cx="12435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A6B2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인원</a:t>
            </a:r>
            <a:endParaRPr lang="ko-KR" sz="1100" dirty="0"/>
          </a:p>
        </p:txBody>
      </p:sp>
      <p:sp>
        <p:nvSpPr>
          <p:cNvPr id="11" name="Text 9"/>
          <p:cNvSpPr/>
          <p:nvPr/>
        </p:nvSpPr>
        <p:spPr>
          <a:xfrm>
            <a:off x="1847088" y="156753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1명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3483864" y="1457808"/>
            <a:ext cx="2642616" cy="475488"/>
          </a:xfrm>
          <a:prstGeom prst="roundRect">
            <a:avLst>
              <a:gd name="adj" fmla="val 28846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585824"/>
            <a:ext cx="12435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A6B2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발표</a:t>
            </a:r>
            <a:endParaRPr lang="ko-KR" sz="1100" dirty="0"/>
          </a:p>
        </p:txBody>
      </p:sp>
      <p:sp>
        <p:nvSpPr>
          <p:cNvPr id="14" name="Text 12"/>
          <p:cNvSpPr/>
          <p:nvPr/>
        </p:nvSpPr>
        <p:spPr>
          <a:xfrm>
            <a:off x="4672584" y="156753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21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457808"/>
            <a:ext cx="2642616" cy="475488"/>
          </a:xfrm>
          <a:prstGeom prst="roundRect">
            <a:avLst>
              <a:gd name="adj" fmla="val 28846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585824"/>
            <a:ext cx="12435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A6B2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마감</a:t>
            </a:r>
            <a:endParaRPr lang="ko-KR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156753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26</a:t>
            </a:r>
            <a:endParaRPr lang="ko-KR" sz="1300" dirty="0"/>
          </a:p>
        </p:txBody>
      </p:sp>
      <p:sp>
        <p:nvSpPr>
          <p:cNvPr id="18" name="Shape 16"/>
          <p:cNvSpPr/>
          <p:nvPr/>
        </p:nvSpPr>
        <p:spPr>
          <a:xfrm>
            <a:off x="9134856" y="1457808"/>
            <a:ext cx="2642616" cy="475488"/>
          </a:xfrm>
          <a:prstGeom prst="roundRect">
            <a:avLst>
              <a:gd name="adj" fmla="val 28846"/>
            </a:avLst>
          </a:prstGeom>
          <a:solidFill>
            <a:srgbClr val="171D22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1585824"/>
            <a:ext cx="12435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A6B2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기간</a:t>
            </a:r>
            <a:endParaRPr lang="ko-KR" sz="1100" dirty="0"/>
          </a:p>
        </p:txBody>
      </p:sp>
      <p:sp>
        <p:nvSpPr>
          <p:cNvPr id="20" name="Text 18"/>
          <p:cNvSpPr/>
          <p:nvPr/>
        </p:nvSpPr>
        <p:spPr>
          <a:xfrm>
            <a:off x="10323576" y="156753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89C3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43일</a:t>
            </a:r>
            <a:endParaRPr lang="ko-KR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2212404"/>
            <a:ext cx="10844784" cy="402336"/>
          </a:xfrm>
          <a:prstGeom prst="roundRect">
            <a:avLst>
              <a:gd name="adj" fmla="val 34091"/>
            </a:avLst>
          </a:prstGeom>
          <a:solidFill>
            <a:srgbClr val="202931"/>
          </a:solidFill>
          <a:ln w="12700">
            <a:solidFill>
              <a:srgbClr val="344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23129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기간</a:t>
            </a:r>
            <a:endParaRPr lang="ko-KR" sz="1200" dirty="0"/>
          </a:p>
        </p:txBody>
      </p:sp>
      <p:sp>
        <p:nvSpPr>
          <p:cNvPr id="23" name="Text 21"/>
          <p:cNvSpPr/>
          <p:nvPr/>
        </p:nvSpPr>
        <p:spPr>
          <a:xfrm>
            <a:off x="2807208" y="2312988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작업</a:t>
            </a:r>
            <a:endParaRPr lang="ko-KR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31298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해당 기간 산출물</a:t>
            </a:r>
            <a:endParaRPr lang="ko-KR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267874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2783904"/>
            <a:ext cx="45720" cy="182880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278756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10/15–10/21</a:t>
            </a:r>
            <a:endParaRPr lang="ko-KR" sz="1215" dirty="0"/>
          </a:p>
        </p:txBody>
      </p:sp>
      <p:sp>
        <p:nvSpPr>
          <p:cNvPr id="28" name="Text 26"/>
          <p:cNvSpPr/>
          <p:nvPr/>
        </p:nvSpPr>
        <p:spPr>
          <a:xfrm>
            <a:off x="2798064" y="277293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게임 컨셉 · 시나리오 기획</a:t>
            </a:r>
            <a:endParaRPr lang="ko-KR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277293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10/21 기획 발표 자료</a:t>
            </a:r>
            <a:endParaRPr lang="ko-KR" sz="1190" dirty="0"/>
          </a:p>
        </p:txBody>
      </p:sp>
      <p:sp>
        <p:nvSpPr>
          <p:cNvPr id="30" name="Shape 28"/>
          <p:cNvSpPr/>
          <p:nvPr/>
        </p:nvSpPr>
        <p:spPr>
          <a:xfrm>
            <a:off x="658368" y="311308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0D1115"/>
          </a:solidFill>
          <a:ln w="12700">
            <a:solidFill>
              <a:srgbClr val="0D111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3218244"/>
            <a:ext cx="45720" cy="18288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" y="322190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10/22–10/28</a:t>
            </a:r>
            <a:endParaRPr lang="ko-KR" sz="1215" dirty="0"/>
          </a:p>
        </p:txBody>
      </p:sp>
      <p:sp>
        <p:nvSpPr>
          <p:cNvPr id="33" name="Text 31"/>
          <p:cNvSpPr/>
          <p:nvPr/>
        </p:nvSpPr>
        <p:spPr>
          <a:xfrm>
            <a:off x="2798064" y="320727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Unity XR 설정 · 매몰 공간 · 기본 파지</a:t>
            </a:r>
            <a:endParaRPr lang="ko-KR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320727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착석형 VR 환경 / Grab</a:t>
            </a:r>
            <a:endParaRPr lang="ko-KR" sz="1190" dirty="0"/>
          </a:p>
        </p:txBody>
      </p:sp>
      <p:sp>
        <p:nvSpPr>
          <p:cNvPr id="35" name="Shape 33"/>
          <p:cNvSpPr/>
          <p:nvPr/>
        </p:nvSpPr>
        <p:spPr>
          <a:xfrm>
            <a:off x="658368" y="354742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" y="3652584"/>
            <a:ext cx="45720" cy="18288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" y="365624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10/29–11/04</a:t>
            </a:r>
            <a:endParaRPr lang="ko-KR" sz="1215" dirty="0"/>
          </a:p>
        </p:txBody>
      </p:sp>
      <p:sp>
        <p:nvSpPr>
          <p:cNvPr id="38" name="Text 36"/>
          <p:cNvSpPr/>
          <p:nvPr/>
        </p:nvSpPr>
        <p:spPr>
          <a:xfrm>
            <a:off x="2798064" y="364161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깨진 스마트폰 UI · 플래시 · 물통</a:t>
            </a:r>
            <a:endParaRPr lang="ko-KR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364161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전화·조명·물통 상호작용</a:t>
            </a:r>
            <a:endParaRPr lang="ko-KR" sz="1190" dirty="0"/>
          </a:p>
        </p:txBody>
      </p:sp>
      <p:sp>
        <p:nvSpPr>
          <p:cNvPr id="40" name="Shape 38"/>
          <p:cNvSpPr/>
          <p:nvPr/>
        </p:nvSpPr>
        <p:spPr>
          <a:xfrm>
            <a:off x="658368" y="398176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0D1115"/>
          </a:solidFill>
          <a:ln w="12700">
            <a:solidFill>
              <a:srgbClr val="0D111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4086924"/>
            <a:ext cx="45720" cy="18288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409058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11/05–11/11</a:t>
            </a:r>
            <a:endParaRPr lang="ko-KR" sz="1215" dirty="0"/>
          </a:p>
        </p:txBody>
      </p:sp>
      <p:sp>
        <p:nvSpPr>
          <p:cNvPr id="43" name="Text 41"/>
          <p:cNvSpPr/>
          <p:nvPr/>
        </p:nvSpPr>
        <p:spPr>
          <a:xfrm>
            <a:off x="2798064" y="407595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여진 · 머리 방어 판정 · 쇠파이프</a:t>
            </a:r>
            <a:endParaRPr lang="ko-KR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407595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2단계 방어 / 파이프 물리</a:t>
            </a:r>
            <a:endParaRPr lang="ko-KR" sz="1190" dirty="0"/>
          </a:p>
        </p:txBody>
      </p:sp>
      <p:sp>
        <p:nvSpPr>
          <p:cNvPr id="45" name="Shape 43"/>
          <p:cNvSpPr/>
          <p:nvPr/>
        </p:nvSpPr>
        <p:spPr>
          <a:xfrm>
            <a:off x="658368" y="441610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" y="4521264"/>
            <a:ext cx="45720" cy="18288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" y="452492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11/12–11/18</a:t>
            </a:r>
            <a:endParaRPr lang="ko-KR" sz="1215" dirty="0"/>
          </a:p>
        </p:txBody>
      </p:sp>
      <p:sp>
        <p:nvSpPr>
          <p:cNvPr id="48" name="Text 46"/>
          <p:cNvSpPr/>
          <p:nvPr/>
        </p:nvSpPr>
        <p:spPr>
          <a:xfrm>
            <a:off x="2798064" y="451029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배터리 · 갈증 · 물 섭취 · 환경 이벤트</a:t>
            </a:r>
            <a:endParaRPr lang="ko-KR" sz="1200" dirty="0"/>
          </a:p>
        </p:txBody>
      </p:sp>
      <p:sp>
        <p:nvSpPr>
          <p:cNvPr id="49" name="Text 47"/>
          <p:cNvSpPr/>
          <p:nvPr/>
        </p:nvSpPr>
        <p:spPr>
          <a:xfrm>
            <a:off x="7132320" y="451029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3단계 자원 관리 구현</a:t>
            </a:r>
            <a:endParaRPr lang="ko-KR" sz="1190" dirty="0"/>
          </a:p>
        </p:txBody>
      </p:sp>
      <p:sp>
        <p:nvSpPr>
          <p:cNvPr id="50" name="Shape 48"/>
          <p:cNvSpPr/>
          <p:nvPr/>
        </p:nvSpPr>
        <p:spPr>
          <a:xfrm>
            <a:off x="658368" y="485044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0D1115"/>
          </a:solidFill>
          <a:ln w="12700">
            <a:solidFill>
              <a:srgbClr val="0D111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" y="4955604"/>
            <a:ext cx="45720" cy="182880"/>
          </a:xfrm>
          <a:prstGeom prst="rect">
            <a:avLst/>
          </a:prstGeom>
          <a:solidFill>
            <a:srgbClr val="7CC0B8"/>
          </a:solidFill>
          <a:ln w="12700">
            <a:solidFill>
              <a:srgbClr val="7CC0B8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" y="495926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7CC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11/19–11/23</a:t>
            </a:r>
            <a:endParaRPr lang="ko-KR" sz="1215" dirty="0"/>
          </a:p>
        </p:txBody>
      </p:sp>
      <p:sp>
        <p:nvSpPr>
          <p:cNvPr id="53" name="Text 51"/>
          <p:cNvSpPr/>
          <p:nvPr/>
        </p:nvSpPr>
        <p:spPr>
          <a:xfrm>
            <a:off x="2798064" y="494463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구조 신호 · 구조 엔딩 · 결과 화면</a:t>
            </a:r>
            <a:endParaRPr lang="ko-KR" sz="1200" dirty="0"/>
          </a:p>
        </p:txBody>
      </p:sp>
      <p:sp>
        <p:nvSpPr>
          <p:cNvPr id="54" name="Text 52"/>
          <p:cNvSpPr/>
          <p:nvPr/>
        </p:nvSpPr>
        <p:spPr>
          <a:xfrm>
            <a:off x="7132320" y="494463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4단계 연결 / 체크리스트</a:t>
            </a:r>
            <a:endParaRPr lang="ko-KR" sz="1190" dirty="0"/>
          </a:p>
        </p:txBody>
      </p:sp>
      <p:sp>
        <p:nvSpPr>
          <p:cNvPr id="55" name="Shape 53"/>
          <p:cNvSpPr/>
          <p:nvPr/>
        </p:nvSpPr>
        <p:spPr>
          <a:xfrm>
            <a:off x="658368" y="5284788"/>
            <a:ext cx="10844784" cy="408737"/>
          </a:xfrm>
          <a:prstGeom prst="roundRect">
            <a:avLst>
              <a:gd name="adj" fmla="val 33557"/>
            </a:avLst>
          </a:prstGeom>
          <a:solidFill>
            <a:srgbClr val="171D22"/>
          </a:solidFill>
          <a:ln w="12700">
            <a:solidFill>
              <a:srgbClr val="171D22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944" y="5389944"/>
            <a:ext cx="45720" cy="182880"/>
          </a:xfrm>
          <a:prstGeom prst="rect">
            <a:avLst/>
          </a:prstGeom>
          <a:solidFill>
            <a:srgbClr val="DE716D"/>
          </a:solidFill>
          <a:ln w="12700">
            <a:solidFill>
              <a:srgbClr val="DE716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5256" y="539360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15" b="1" dirty="0">
                <a:solidFill>
                  <a:srgbClr val="DE716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11/24–11/26</a:t>
            </a:r>
            <a:endParaRPr lang="ko-KR" sz="1215" dirty="0"/>
          </a:p>
        </p:txBody>
      </p:sp>
      <p:sp>
        <p:nvSpPr>
          <p:cNvPr id="58" name="Text 56"/>
          <p:cNvSpPr/>
          <p:nvPr/>
        </p:nvSpPr>
        <p:spPr>
          <a:xfrm>
            <a:off x="2798064" y="5378971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AF0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테스트 · 최적화 · 버그 수정</a:t>
            </a:r>
            <a:endParaRPr lang="ko-KR" sz="1200" dirty="0"/>
          </a:p>
        </p:txBody>
      </p:sp>
      <p:sp>
        <p:nvSpPr>
          <p:cNvPr id="59" name="Text 57"/>
          <p:cNvSpPr/>
          <p:nvPr/>
        </p:nvSpPr>
        <p:spPr>
          <a:xfrm>
            <a:off x="7132320" y="5378971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9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11/26 최종 VR 빌드</a:t>
            </a:r>
            <a:endParaRPr lang="ko-KR" sz="1190" dirty="0"/>
          </a:p>
        </p:txBody>
      </p:sp>
      <p:sp>
        <p:nvSpPr>
          <p:cNvPr id="60" name="Text 58"/>
          <p:cNvSpPr/>
          <p:nvPr/>
        </p:nvSpPr>
        <p:spPr>
          <a:xfrm>
            <a:off x="694944" y="6062472"/>
            <a:ext cx="10753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일정 운영 원칙: 핵심 플레이 완성 우선. 쥐·음성 입력 등 확장 요소는 필수 기능 안정화 후 추가.</a:t>
            </a:r>
            <a:endParaRPr lang="ko-KR" sz="11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_vr/assets/scene_07_e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011" y="0"/>
            <a:ext cx="8592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0D1115"/>
          </a:solidFill>
          <a:ln w="12700">
            <a:solidFill>
              <a:srgbClr val="0D111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7512" y="960120"/>
            <a:ext cx="64008" cy="676656"/>
          </a:xfrm>
          <a:prstGeom prst="rect">
            <a:avLst/>
          </a:prstGeom>
          <a:solidFill>
            <a:srgbClr val="D7B46A"/>
          </a:solidFill>
          <a:ln w="12700">
            <a:solidFill>
              <a:srgbClr val="D7B46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1832" y="1078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kern="0" spc="160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CONCEPT SUMMARY</a:t>
            </a:r>
            <a:endParaRPr lang="ko-KR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2084832"/>
            <a:ext cx="65379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31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움직일 수 없기에,</a:t>
            </a:r>
            <a:endParaRPr lang="ko-KR" sz="3100" dirty="0"/>
          </a:p>
          <a:p>
            <a:pPr marL="0" indent="0">
              <a:buNone/>
            </a:pPr>
            <a:r>
              <a:rPr lang="ko-KR" altLang="en-US" sz="31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더 신중하게 선택한다.</a:t>
            </a:r>
            <a:endParaRPr lang="ko-KR" sz="3100" dirty="0"/>
          </a:p>
        </p:txBody>
      </p:sp>
      <p:sp>
        <p:nvSpPr>
          <p:cNvPr id="7" name="Shape 4"/>
          <p:cNvSpPr/>
          <p:nvPr/>
        </p:nvSpPr>
        <p:spPr>
          <a:xfrm>
            <a:off x="713232" y="3950208"/>
            <a:ext cx="5157216" cy="0"/>
          </a:xfrm>
          <a:prstGeom prst="line">
            <a:avLst/>
          </a:prstGeom>
          <a:noFill/>
          <a:ln w="12700">
            <a:solidFill>
              <a:srgbClr val="3440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4279392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D7B4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매몰된 몸 · 손상된 스마트폰 · 제한된 물과 빛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4965192"/>
            <a:ext cx="5522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플레이어의 생존 선택이 마지막 구조 신호로 이어지는</a:t>
            </a:r>
            <a:endParaRPr lang="ko-KR" sz="1500" dirty="0"/>
          </a:p>
          <a:p>
            <a:pPr marL="0" indent="0">
              <a:buNone/>
            </a:pPr>
            <a:r>
              <a:rPr lang="ko-KR" altLang="en-US" sz="1500" dirty="0">
                <a:solidFill>
                  <a:srgbClr val="A6B2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약 5분의 VR 재난 생존 경험</a:t>
            </a:r>
            <a:endParaRPr lang="ko-KR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63367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EAF0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잔해 속의 숨  |  Breath in the Rubble</a:t>
            </a:r>
            <a:endParaRPr lang="ko-K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2977</Words>
  <Application>Microsoft Office PowerPoint</Application>
  <PresentationFormat>와이드스크린</PresentationFormat>
  <Paragraphs>409</Paragraphs>
  <Slides>20</Slides>
  <Notes>20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NanumGothic</vt:lpstr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프로젝트 기획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잔해 속의 숨 | Breath in the Rubble</dc:title>
  <dc:subject>VR 재난 생존 체험 프로젝트 기획서</dc:subject>
  <dc:creator>VR Project Concept</dc:creator>
  <cp:lastModifiedBy>재혁 문</cp:lastModifiedBy>
  <cp:revision>3</cp:revision>
  <dcterms:created xsi:type="dcterms:W3CDTF">2026-10-20T06:59:50Z</dcterms:created>
  <dcterms:modified xsi:type="dcterms:W3CDTF">2026-10-20T07:41:43Z</dcterms:modified>
</cp:coreProperties>
</file>